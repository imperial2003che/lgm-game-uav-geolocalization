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03500d4079804137" /><Relationship Type="http://schemas.openxmlformats.org/officeDocument/2006/relationships/extended-properties" Target="/docProps/app.xml" Id="R1131877cfd244282" /><Relationship Type="http://schemas.openxmlformats.org/officeDocument/2006/relationships/officeDocument" Target="/ppt/presentation.xml" Id="Rbbb65c432da1459d" /></Relationships>
</file>

<file path=ppt/presentation.xml><?xml version="1.0" encoding="utf-8"?>
<p:presentation xmlns:p="http://schemas.openxmlformats.org/presentationml/2006/main">
  <p:sldMasterIdLst>
    <p:sldMasterId xmlns:r="http://schemas.openxmlformats.org/officeDocument/2006/relationships" id="2147483648" r:id="Re15f5c242fe943c8"/>
  </p:sldMasterIdLst>
  <p:notesMasterIdLst>
    <p:notesMasterId xmlns:r="http://schemas.openxmlformats.org/officeDocument/2006/relationships" r:id="Rb5ae2f7a261f4b29"/>
  </p:notesMasterIdLst>
  <p:sldIdLst>
    <p:sldId xmlns:r="http://schemas.openxmlformats.org/officeDocument/2006/relationships" id="256" r:id="R1940ced0f27c4216"/>
  </p:sldIdLst>
  <p:sldSz cx="6548400" cy="41021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02d1a86b9ddb45ce" /><Relationship Type="http://schemas.openxmlformats.org/officeDocument/2006/relationships/slideMaster" Target="/ppt/slideMasters/slideMaster1.xml" Id="Re15f5c242fe943c8" /><Relationship Type="http://schemas.openxmlformats.org/officeDocument/2006/relationships/notesMaster" Target="/ppt/notesMasters/notesMaster1.xml" Id="Rb5ae2f7a261f4b29" /><Relationship Type="http://schemas.openxmlformats.org/officeDocument/2006/relationships/presProps" Target="/ppt/presProps.xml" Id="R6fdf714040e84f4a" /><Relationship Type="http://schemas.openxmlformats.org/officeDocument/2006/relationships/tableStyles" Target="/ppt/tableStyles.xml" Id="R7574fc4ae9f1456b" /><Relationship Type="http://schemas.openxmlformats.org/officeDocument/2006/relationships/slide" Target="/ppt/slides/slide1.xml" Id="R1940ced0f27c4216"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a04686c52b8d420a"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bc3dd317346b4154" /><Relationship Type="http://schemas.openxmlformats.org/officeDocument/2006/relationships/notesMaster" Target="/ppt/notesMasters/notesMaster1.xml" Id="Re8301a0f37534caf"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Trained on SUES-200 → evaluated on University-1652. Zero-shot retrieval for each target task. All three metrics are shown for Visual and Full using equally weighted seeds 1, 2 and 3; points and labels denote mean and bars denote sample SD with denominator n−1=2. SD is neither a confidence interval nor a significance test. The source fraction mean and SD are both multiplied by 100: R@1 and official trapezoidal mAP are percentages, while MRR ×100 is a scaled MRR value, not a percentage accuracy. Official mAP uses the frozen official trapezoidal AP semantics. All axes start at zero; each metric axis is separately scaled and the complete mean±SD interval is retained. Numeric labels use three decimal places; full-precision fractions and all individual seeds are preserved in source CSV/JSON and notes. Training/evaluation dataset direction in the title is distinct from the retrieval directions and heights within the target dataset. No pooling across tasks, heights, directions, datasets or query counts is performed. These are descriptive results and do not establish statistical significance or general superiority. The adopted results show Full mean R@1 below Visual in all 11 tasks; mAP/MRR are also below Visual except the small positive SUES→University street→satellite differences. No checkpoint bytes, caches, images, NPZs, model or full-ranking/AP computation is repeated here. All inherited checkpoint/cache/image SHA and historical evidence-chain limitations remain in force.</a:t>
            </a:r>
          </a:p>
          <a:p xmlns:a="http://schemas.openxmlformats.org/drawingml/2006/main">
            <a:r>
              <a:t/>
            </a:r>
          </a:p>
          <a:p xmlns:a="http://schemas.openxmlformats.org/drawingml/2006/main">
            <a:r>
              <a:t>Root adoption SHA256: a8867a9ebdf01061a55d143b79eff91196571c2275f4379902131a69dd4ce80c</a:t>
            </a:r>
          </a:p>
          <a:p xmlns:a="http://schemas.openxmlformats.org/drawingml/2006/main">
            <a:r>
              <a:t/>
            </a:r>
          </a:p>
          <a:p xmlns:a="http://schemas.openxmlformats.org/drawingml/2006/main">
            <a:r>
              <a:t>Exact adopted THREE_SEED_SUMMARY.csv:</a:t>
            </a:r>
          </a:p>
          <a:p xmlns:a="http://schemas.openxmlformats.org/drawingml/2006/main">
            <a:r>
              <a:t>source_dataset,target_dataset,task,variant,n_seeds,protocol,queries,gallery,query_identities,gallery_identities,unit,r_at_1_mean,r_at_1_sample_sd,official_trapezoid_mAP_mean,official_trapezoid_mAP_sample_sd,MRR_mean,MRR_sample_sd</a:t>
            </a:r>
          </a:p>
          <a:p xmlns:a="http://schemas.openxmlformats.org/drawingml/2006/main">
            <a:r>
              <a:t>sues200,university1652,university1652_drone_to_satellite,visual,3,official test/query_drone -&gt; test/gallery_satellite,37855,951,701,951,fraction,0.11008673446924669,0.0011737807652226653,0.14861383040746054,0.0006297831541397107,0.1871409366528193,0.00037921644406391046</a:t>
            </a:r>
          </a:p>
          <a:p xmlns:a="http://schemas.openxmlformats.org/drawingml/2006/main">
            <a:r>
              <a:t>sues200,university1652,university1652_drone_to_satellite,full,3,official test/query_drone -&gt; test/gallery_satellite,37855,951,701,951,fraction,0.08177695592832299,0.006092465877263827,0.11655119309822719,0.006995960861287066,0.15132541954517365,0.008086340405917136</a:t>
            </a:r>
          </a:p>
          <a:p xmlns:a="http://schemas.openxmlformats.org/drawingml/2006/main">
            <a:r>
              <a:t>sues200,university1652,university1652_satellite_to_drone,visual,3,official test/query_satellite -&gt; test/gallery_drone,701,51355,701,951,fraction,0.25677603423680456,0.017529537414328805,0.09543195863564809,0.004668779641118742,0.33548680941263836,0.01666768796874966</a:t>
            </a:r>
          </a:p>
          <a:p xmlns:a="http://schemas.openxmlformats.org/drawingml/2006/main">
            <a:r>
              <a:t>sues200,university1652,university1652_satellite_to_drone,full,3,official test/query_satellite -&gt; test/gallery_drone,701,51355,701,951,fraction,0.1825962910128388,0.012436230937348561,0.06966795523961385,0.004376532360712236,0.25885044535001117,0.022711633232487958</a:t>
            </a:r>
          </a:p>
          <a:p xmlns:a="http://schemas.openxmlformats.org/drawingml/2006/main">
            <a:r>
              <a:t>sues200,university1652,university1652_street_to_satellite,visual,3,official test/query_street -&gt; test/gallery_satellite,2579,951,701,951,fraction,0.002584981258885873,0.0009758090261433049,0.007036140964676936,0.0011232620533530374,0.01148730143904686,0.0014193073266615223</a:t>
            </a:r>
          </a:p>
          <a:p xmlns:a="http://schemas.openxmlformats.org/drawingml/2006/main">
            <a:r>
              <a:t>sues200,university1652,university1652_street_to_satellite,full,3,official test/query_street -&gt; test/gallery_satellite,2579,951,701,951,fraction,0.0023264831329972858,0.0,0.007434318618228038,0.000454016713253261,0.01254215370863676,0.0009080321404511635</a:t>
            </a:r>
          </a:p>
          <a:p xmlns:a="http://schemas.openxmlformats.org/drawingml/2006/main">
            <a:r>
              <a:t>university1652,sues200,sues200_satellite_to_uav_150m,visual,3,official 80 test IDs as query; all 200 150m UAV IDs in gallery,80,10000,80,200,fraction,0.19583333333333333,0.040181878170803986,0.12802406152089438,0.016706063373970372,0.25403207043806714,0.03848866843422622</a:t>
            </a:r>
          </a:p>
          <a:p xmlns:a="http://schemas.openxmlformats.org/drawingml/2006/main">
            <a:r>
              <a:t>university1652,sues200,sues200_satellite_to_uav_150m,full,3,official 80 test IDs as query; all 200 150m UAV IDs in gallery,80,10000,80,200,fraction,0.12916666666666665,0.01909406539564933,0.09085060159365337,0.007382535991600175,0.18487652639547983,0.020941640268136837</a:t>
            </a:r>
          </a:p>
          <a:p xmlns:a="http://schemas.openxmlformats.org/drawingml/2006/main">
            <a:r>
              <a:t>university1652,sues200,sues200_satellite_to_uav_200m,visual,3,official 80 test IDs as query; all 200 200m UAV IDs in gallery,80,10000,80,200,fraction,0.2625,0.05,0.16866588095823923,0.033538018107113106,0.33665284514427185,0.05415972483559212</a:t>
            </a:r>
          </a:p>
          <a:p xmlns:a="http://schemas.openxmlformats.org/drawingml/2006/main">
            <a:r>
              <a:t>university1652,sues200,sues200_satellite_to_uav_200m,full,3,official 80 test IDs as query; all 200 200m UAV IDs in gallery,80,10000,80,200,fraction,0.15416666666666667,0.01443375672974064,0.12097141146659851,0.0055830528042217385,0.21401216089725494,0.018102499343000497</a:t>
            </a:r>
          </a:p>
          <a:p xmlns:a="http://schemas.openxmlformats.org/drawingml/2006/main">
            <a:r>
              <a:t>university1652,sues200,sues200_satellite_to_uav_250m,visual,3,official 80 test IDs as query; all 200 250m UAV IDs in gallery,80,10000,80,200,fraction,0.3,0.037500000000000006,0.21293873091538748,0.028945232355610116,0.36849608023961383,0.031206019501608596</a:t>
            </a:r>
          </a:p>
          <a:p xmlns:a="http://schemas.openxmlformats.org/drawingml/2006/main">
            <a:r>
              <a:t>university1652,sues200,sues200_satellite_to_uav_250m,full,3,official 80 test IDs as query; all 200 250m UAV IDs in gallery,80,10000,80,200,fraction,0.20416666666666666,0.026020824993326665,0.15253807604312897,0.0035548827769509776,0.266576811671257,0.031452162334753335</a:t>
            </a:r>
          </a:p>
          <a:p xmlns:a="http://schemas.openxmlformats.org/drawingml/2006/main">
            <a:r>
              <a:t>university1652,sues200,sues200_satellite_to_uav_300m,visual,3,official 80 test IDs as query; all 200 300m UAV IDs in gallery,80,10000,80,200,fraction,0.3458333333333333,0.0563656219102862,0.24482457836469015,0.025442668001477053,0.40241705377896625,0.05120712650032492</a:t>
            </a:r>
          </a:p>
          <a:p xmlns:a="http://schemas.openxmlformats.org/drawingml/2006/main">
            <a:r>
              <a:t>university1652,sues200,sues200_satellite_to_uav_300m,full,3,official 80 test IDs as query; all 200 300m UAV IDs in gallery,80,10000,80,200,fraction,0.19583333333333333,0.019094065395649337,0.1647676775852839,0.0037117483579077073,0.26014179984728497,0.0060459857887774</a:t>
            </a:r>
          </a:p>
          <a:p xmlns:a="http://schemas.openxmlformats.org/drawingml/2006/main">
            <a:r>
              <a:t>university1652,sues200,sues200_uav_150m_to_satellite,visual,3,official 80 test IDs as query; all 200 satellite IDs in gallery,4000,200,80,200,fraction,0.19141666666666668,0.02331353326575217,0.24536707997322083,0.023951362036891934,0.29931747913360596,0.024974476013910785</a:t>
            </a:r>
          </a:p>
          <a:p xmlns:a="http://schemas.openxmlformats.org/drawingml/2006/main">
            <a:r>
              <a:t>university1652,sues200,sues200_uav_150m_to_satellite,full,3,official 80 test IDs as query; all 200 satellite IDs in gallery,4000,200,80,200,fraction,0.14591666666666667,0.009268000503524654,0.1965915560722351,0.0066612365571674685,0.24726644655068716,0.006631720542631009</a:t>
            </a:r>
          </a:p>
          <a:p xmlns:a="http://schemas.openxmlformats.org/drawingml/2006/main">
            <a:r>
              <a:t>university1652,sues200,sues200_uav_200m_to_satellite,visual,3,official 80 test IDs as query; all 200 satellite IDs in gallery,4000,200,80,200,fraction,0.23900000000000002,0.02718455443813638,0.29546403884887695,0.027842889345702452,0.35192809502283734,0.028833355400971296</a:t>
            </a:r>
          </a:p>
          <a:p xmlns:a="http://schemas.openxmlformats.org/drawingml/2006/main">
            <a:r>
              <a:t>university1652,sues200,sues200_uav_200m_to_satellite,full,3,official 80 test IDs as query; all 200 satellite IDs in gallery,4000,200,80,200,fraction,0.16066666666666668,0.007973915809270465,0.21624726553757986,0.007074737672715929,0.2718278666337331,0.006602933079113227</a:t>
            </a:r>
          </a:p>
          <a:p xmlns:a="http://schemas.openxmlformats.org/drawingml/2006/main">
            <a:r>
              <a:t>university1652,sues200,sues200_uav_250m_to_satellite,visual,3,official 80 test IDs as query; all 200 satellite IDs in gallery,4000,200,80,200,fraction,0.27275,0.02368148010577042,0.3297492067019145,0.02462981636584945,0.38674837350845337,0.02574519251754456</a:t>
            </a:r>
          </a:p>
          <a:p xmlns:a="http://schemas.openxmlformats.org/drawingml/2006/main">
            <a:r>
              <a:t>university1652,sues200,sues200_uav_250m_to_satellite,full,3,official 80 test IDs as query; all 200 satellite IDs in gallery,4000,200,80,200,fraction,0.18608333333333332,0.009856258586975765,0.24333380162715912,0.0077685839459258384,0.30058425664901733,0.005975845708329588</a:t>
            </a:r>
          </a:p>
          <a:p xmlns:a="http://schemas.openxmlformats.org/drawingml/2006/main">
            <a:r>
              <a:t>university1652,sues200,sues200_uav_300m_to_satellite,visual,3,official 80 test IDs as query; all 200 satellite IDs in gallery,4000,200,80,200,fraction,0.2995,0.027915049704415714,0.3560233215490977,0.02919257953227764,0.41254664460817975,0.03059093316458032</a:t>
            </a:r>
          </a:p>
          <a:p xmlns:a="http://schemas.openxmlformats.org/drawingml/2006/main">
            <a:r>
              <a:t>university1652,sues200,sues200_uav_300m_to_satellite,full,3,official 80 test IDs as query; all 200 satellite IDs in gallery,4000,200,80,200,fraction,0.19533333333333333,0.0110151410945722,0.2527368664741516,0.009709850345002508,0.31014042099316913,0.008507315618893804</a:t>
            </a:r>
          </a:p>
          <a:p xmlns:a="http://schemas.openxmlformats.org/drawingml/2006/main">
            <a:r>
              <a:t/>
            </a:r>
          </a:p>
          <a:p xmlns:a="http://schemas.openxmlformats.org/drawingml/2006/main">
            <a:r>
              <a:t>Exact adopted SEED_RESULTS.csv:</a:t>
            </a:r>
          </a:p>
          <a:p xmlns:a="http://schemas.openxmlformats.org/drawingml/2006/main">
            <a:r>
              <a:t>source_dataset,target_dataset,task,variant,seed,protocol,queries,gallery,query_identities,gallery_identities,unit,r_at_1,official_trapezoid_mAP,MRR</a:t>
            </a:r>
          </a:p>
          <a:p xmlns:a="http://schemas.openxmlformats.org/drawingml/2006/main">
            <a:r>
              <a:t>university1652,sues200,sues200_satellite_to_uav_150m,visual,1,official 80 test IDs as query; all 200 150m UAV IDs in gallery,80,10000,80,200,fraction,0.225,0.14510588347911835,0.28989744186401367</a:t>
            </a:r>
          </a:p>
          <a:p xmlns:a="http://schemas.openxmlformats.org/drawingml/2006/main">
            <a:r>
              <a:t>university1652,sues200,sues200_satellite_to_uav_200m,visual,1,official 80 test IDs as query; all 200 200m UAV IDs in gallery,80,10000,80,200,fraction,0.3125,0.20738501846790314,0.3912224769592285</a:t>
            </a:r>
          </a:p>
          <a:p xmlns:a="http://schemas.openxmlformats.org/drawingml/2006/main">
            <a:r>
              <a:t>university1652,sues200,sues200_satellite_to_uav_250m,visual,1,official 80 test IDs as query; all 200 250m UAV IDs in gallery,80,10000,80,200,fraction,0.3375,0.2456352710723877,0.40372127294540405</a:t>
            </a:r>
          </a:p>
          <a:p xmlns:a="http://schemas.openxmlformats.org/drawingml/2006/main">
            <a:r>
              <a:t>university1652,sues200,sues200_satellite_to_uav_300m,visual,1,official 80 test IDs as query; all 200 300m UAV IDs in gallery,80,10000,80,200,fraction,0.4,0.2710656225681305,0.4560045599937439</a:t>
            </a:r>
          </a:p>
          <a:p xmlns:a="http://schemas.openxmlformats.org/drawingml/2006/main">
            <a:r>
              <a:t>university1652,sues200,sues200_uav_150m_to_satellite,visual,1,official 80 test IDs as query; all 200 satellite IDs in gallery,4000,200,80,200,fraction,0.21625,0.27205491065979004,0.3278597295284271</a:t>
            </a:r>
          </a:p>
          <a:p xmlns:a="http://schemas.openxmlformats.org/drawingml/2006/main">
            <a:r>
              <a:t>university1652,sues200,sues200_uav_200m_to_satellite,visual,1,official 80 test IDs as query; all 200 satellite IDs in gallery,4000,200,80,200,fraction,0.269,0.32705679535865784,0.38511359691619873</a:t>
            </a:r>
          </a:p>
          <a:p xmlns:a="http://schemas.openxmlformats.org/drawingml/2006/main">
            <a:r>
              <a:t>university1652,sues200,sues200_uav_250m_to_satellite,visual,1,official 80 test IDs as query; all 200 satellite IDs in gallery,4000,200,80,200,fraction,0.29975,0.35811299085617065,0.41647589206695557</a:t>
            </a:r>
          </a:p>
          <a:p xmlns:a="http://schemas.openxmlformats.org/drawingml/2006/main">
            <a:r>
              <a:t>university1652,sues200,sues200_uav_300m_to_satellite,visual,1,official 80 test IDs as query; all 200 satellite IDs in gallery,4000,200,80,200,fraction,0.329,0.38771703839302063,0.4464340806007385</a:t>
            </a:r>
          </a:p>
          <a:p xmlns:a="http://schemas.openxmlformats.org/drawingml/2006/main">
            <a:r>
              <a:t>university1652,sues200,sues200_satellite_to_uav_150m,visual,2,official 80 test IDs as query; all 200 150m UAV IDs in gallery,80,10000,80,200,fraction,0.2125,0.12724530696868896,0.2588289678096771</a:t>
            </a:r>
          </a:p>
          <a:p xmlns:a="http://schemas.openxmlformats.org/drawingml/2006/main">
            <a:r>
              <a:t>university1652,sues200,sues200_satellite_to_uav_200m,visual,2,official 80 test IDs as query; all 200 200m UAV IDs in gallery,80,10000,80,200,fraction,0.2125,0.14995434880256653,0.28291255235671997</a:t>
            </a:r>
          </a:p>
          <a:p xmlns:a="http://schemas.openxmlformats.org/drawingml/2006/main">
            <a:r>
              <a:t>university1652,sues200,sues200_satellite_to_uav_250m,visual,2,official 80 test IDs as query; all 200 250m UAV IDs in gallery,80,10000,80,200,fraction,0.3,0.2025928497314453,0.3574565351009369</a:t>
            </a:r>
          </a:p>
          <a:p xmlns:a="http://schemas.openxmlformats.org/drawingml/2006/main">
            <a:r>
              <a:t>university1652,sues200,sues200_satellite_to_uav_300m,visual,2,official 80 test IDs as query; all 200 300m UAV IDs in gallery,80,10000,80,200,fraction,0.2875,0.2202635556459427,0.3539794981479645</a:t>
            </a:r>
          </a:p>
          <a:p xmlns:a="http://schemas.openxmlformats.org/drawingml/2006/main">
            <a:r>
              <a:t>university1652,sues200,sues200_uav_150m_to_satellite,visual,2,official 80 test IDs as query; all 200 satellite IDs in gallery,4000,200,80,200,fraction,0.188,0.23830707371234894,0.2886141836643219</a:t>
            </a:r>
          </a:p>
          <a:p xmlns:a="http://schemas.openxmlformats.org/drawingml/2006/main">
            <a:r>
              <a:t>university1652,sues200,sues200_uav_200m_to_satellite,visual,2,official 80 test IDs as query; all 200 satellite IDs in gallery,4000,200,80,200,fraction,0.232,0.2848300039768219,0.3376600444316864</a:t>
            </a:r>
          </a:p>
          <a:p xmlns:a="http://schemas.openxmlformats.org/drawingml/2006/main">
            <a:r>
              <a:t>university1652,sues200,sues200_uav_250m_to_satellite,visual,2,official 80 test IDs as query; all 200 satellite IDs in gallery,4000,200,80,200,fraction,0.263,0.3173699975013733,0.3717399835586548</a:t>
            </a:r>
          </a:p>
          <a:p xmlns:a="http://schemas.openxmlformats.org/drawingml/2006/main">
            <a:r>
              <a:t>university1652,sues200,sues200_uav_300m_to_satellite,visual,2,official 80 test IDs as query; all 200 satellite IDs in gallery,4000,200,80,200,fraction,0.2735,0.33023473620414734,0.3869694769382477</a:t>
            </a:r>
          </a:p>
          <a:p xmlns:a="http://schemas.openxmlformats.org/drawingml/2006/main">
            <a:r>
              <a:t>university1652,sues200,sues200_satellite_to_uav_150m,visual,3,official 80 test IDs as query; all 200 150m UAV IDs in gallery,80,10000,80,200,fraction,0.15,0.1117209941148758,0.21336980164051056</a:t>
            </a:r>
          </a:p>
          <a:p xmlns:a="http://schemas.openxmlformats.org/drawingml/2006/main">
            <a:r>
              <a:t>university1652,sues200,sues200_satellite_to_uav_200m,visual,3,official 80 test IDs as query; all 200 200m UAV IDs in gallery,80,10000,80,200,fraction,0.2625,0.14865827560424805,0.33582350611686707</a:t>
            </a:r>
          </a:p>
          <a:p xmlns:a="http://schemas.openxmlformats.org/drawingml/2006/main">
            <a:r>
              <a:t>university1652,sues200,sues200_satellite_to_uav_250m,visual,3,official 80 test IDs as query; all 200 250m UAV IDs in gallery,80,10000,80,200,fraction,0.2625,0.1905880719423294,0.3443104326725006</a:t>
            </a:r>
          </a:p>
          <a:p xmlns:a="http://schemas.openxmlformats.org/drawingml/2006/main">
            <a:r>
              <a:t>university1652,sues200,sues200_satellite_to_uav_300m,visual,3,official 80 test IDs as query; all 200 300m UAV IDs in gallery,80,10000,80,200,fraction,0.35,0.24314455687999725,0.39726710319519043</a:t>
            </a:r>
          </a:p>
          <a:p xmlns:a="http://schemas.openxmlformats.org/drawingml/2006/main">
            <a:r>
              <a:t>university1652,sues200,sues200_uav_150m_to_satellite,visual,3,official 80 test IDs as query; all 200 satellite IDs in gallery,4000,200,80,200,fraction,0.17,0.2257392555475235,0.28147852420806885</a:t>
            </a:r>
          </a:p>
          <a:p xmlns:a="http://schemas.openxmlformats.org/drawingml/2006/main">
            <a:r>
              <a:t>university1652,sues200,sues200_uav_200m_to_satellite,visual,3,official 80 test IDs as query; all 200 satellite IDs in gallery,4000,200,80,200,fraction,0.216,0.2745053172111511,0.33301064372062683</a:t>
            </a:r>
          </a:p>
          <a:p xmlns:a="http://schemas.openxmlformats.org/drawingml/2006/main">
            <a:r>
              <a:t>university1652,sues200,sues200_uav_250m_to_satellite,visual,3,official 80 test IDs as query; all 200 satellite IDs in gallery,4000,200,80,200,fraction,0.2555,0.31376463174819946,0.37202924489974976</a:t>
            </a:r>
          </a:p>
          <a:p xmlns:a="http://schemas.openxmlformats.org/drawingml/2006/main">
            <a:r>
              <a:t>university1652,sues200,sues200_uav_300m_to_satellite,visual,3,official 80 test IDs as query; all 200 satellite IDs in gallery,4000,200,80,200,fraction,0.296,0.3501181900501251,0.404236376285553</a:t>
            </a:r>
          </a:p>
          <a:p xmlns:a="http://schemas.openxmlformats.org/drawingml/2006/main">
            <a:r>
              <a:t>university1652,sues200,sues200_satellite_to_uav_150m,full,1,official 80 test IDs as query; all 200 150m UAV IDs in gallery,80,10000,80,200,fraction,0.1125,0.08296680450439453,0.16104421019554138</a:t>
            </a:r>
          </a:p>
          <a:p xmlns:a="http://schemas.openxmlformats.org/drawingml/2006/main">
            <a:r>
              <a:t>university1652,sues200,sues200_satellite_to_uav_200m,full,1,official 80 test IDs as query; all 200 200m UAV IDs in gallery,80,10000,80,200,fraction,0.1625,0.11578498035669327,0.21508249640464783</a:t>
            </a:r>
          </a:p>
          <a:p xmlns:a="http://schemas.openxmlformats.org/drawingml/2006/main">
            <a:r>
              <a:t>university1652,sues200,sues200_satellite_to_uav_250m,full,1,official 80 test IDs as query; all 200 250m UAV IDs in gallery,80,10000,80,200,fraction,0.175,0.1488778293132782,0.23133568465709686</a:t>
            </a:r>
          </a:p>
          <a:p xmlns:a="http://schemas.openxmlformats.org/drawingml/2006/main">
            <a:r>
              <a:t>university1652,sues200,sues200_satellite_to_uav_300m,full,1,official 80 test IDs as query; all 200 300m UAV IDs in gallery,80,10000,80,200,fraction,0.175,0.1622217446565628,0.256194531917572</a:t>
            </a:r>
          </a:p>
          <a:p xmlns:a="http://schemas.openxmlformats.org/drawingml/2006/main">
            <a:r>
              <a:t>university1652,sues200,sues200_uav_150m_to_satellite,full,1,official 80 test IDs as query; all 200 satellite IDs in gallery,4000,200,80,200,fraction,0.1555,0.2011401355266571,0.24678030610084534</a:t>
            </a:r>
          </a:p>
          <a:p xmlns:a="http://schemas.openxmlformats.org/drawingml/2006/main">
            <a:r>
              <a:t>university1652,sues200,sues200_uav_200m_to_satellite,full,1,official 80 test IDs as query; all 200 satellite IDs in gallery,4000,200,80,200,fraction,0.1645,0.21794189512729645,0.27138376235961914</a:t>
            </a:r>
          </a:p>
          <a:p xmlns:a="http://schemas.openxmlformats.org/drawingml/2006/main">
            <a:r>
              <a:t>university1652,sues200,sues200_uav_250m_to_satellite,full,1,official 80 test IDs as query; all 200 satellite IDs in gallery,4000,200,80,200,fraction,0.195,0.2511157989501953,0.307231605052948</a:t>
            </a:r>
          </a:p>
          <a:p xmlns:a="http://schemas.openxmlformats.org/drawingml/2006/main">
            <a:r>
              <a:t>university1652,sues200,sues200_uav_300m_to_satellite,full,1,official 80 test IDs as query; all 200 satellite IDs in gallery,4000,200,80,200,fraction,0.206,0.26265111565589905,0.3193023204803467</a:t>
            </a:r>
          </a:p>
          <a:p xmlns:a="http://schemas.openxmlformats.org/drawingml/2006/main">
            <a:r>
              <a:t>university1652,sues200,sues200_satellite_to_uav_150m,full,2,official 80 test IDs as query; all 200 150m UAV IDs in gallery,80,10000,80,200,fraction,0.125,0.09760072827339172,0.20033779740333557</a:t>
            </a:r>
          </a:p>
          <a:p xmlns:a="http://schemas.openxmlformats.org/drawingml/2006/main">
            <a:r>
              <a:t>university1652,sues200,sues200_satellite_to_uav_200m,full,2,official 80 test IDs as query; all 200 200m UAV IDs in gallery,80,10000,80,200,fraction,0.1625,0.1268806755542755,0.2315557450056076</a:t>
            </a:r>
          </a:p>
          <a:p xmlns:a="http://schemas.openxmlformats.org/drawingml/2006/main">
            <a:r>
              <a:t>university1652,sues200,sues200_satellite_to_uav_250m,full,2,official 80 test IDs as query; all 200 250m UAV IDs in gallery,80,10000,80,200,fraction,0.225,0.1527591198682785,0.29179906845092773</a:t>
            </a:r>
          </a:p>
          <a:p xmlns:a="http://schemas.openxmlformats.org/drawingml/2006/main">
            <a:r>
              <a:t>university1652,sues200,sues200_satellite_to_uav_300m,full,2,official 80 test IDs as query; all 200 300m UAV IDs in gallery,80,10000,80,200,fraction,0.2125,0.1630547195672989,0.2671022415161133</a:t>
            </a:r>
          </a:p>
          <a:p xmlns:a="http://schemas.openxmlformats.org/drawingml/2006/main">
            <a:r>
              <a:t>university1652,sues200,sues200_uav_150m_to_satellite,full,2,official 80 test IDs as query; all 200 satellite IDs in gallery,4000,200,80,200,fraction,0.14525,0.19968894124031067,0.2541278600692749</a:t>
            </a:r>
          </a:p>
          <a:p xmlns:a="http://schemas.openxmlformats.org/drawingml/2006/main">
            <a:r>
              <a:t>university1652,sues200,sues200_uav_200m_to_satellite,full,2,official 80 test IDs as query; all 200 satellite IDs in gallery,4000,200,80,200,fraction,0.166,0.2223207950592041,0.27864164113998413</a:t>
            </a:r>
          </a:p>
          <a:p xmlns:a="http://schemas.openxmlformats.org/drawingml/2006/main">
            <a:r>
              <a:t>university1652,sues200,sues200_uav_250m_to_satellite,full,2,official 80 test IDs as query; all 200 satellite IDs in gallery,4000,200,80,200,fraction,0.18775,0.24330690503120422,0.29886379837989807</a:t>
            </a:r>
          </a:p>
          <a:p xmlns:a="http://schemas.openxmlformats.org/drawingml/2006/main">
            <a:r>
              <a:t>university1652,sues200,sues200_uav_300m_to_satellite,full,2,official 80 test IDs as query; all 200 satellite IDs in gallery,4000,200,80,200,fraction,0.196,0.2523142695426941,0.30862852931022644</a:t>
            </a:r>
          </a:p>
          <a:p xmlns:a="http://schemas.openxmlformats.org/drawingml/2006/main">
            <a:r>
              <a:t>university1652,sues200,sues200_satellite_to_uav_150m,full,3,official 80 test IDs as query; all 200 150m UAV IDs in gallery,80,10000,80,200,fraction,0.15,0.09198427200317383,0.19324757158756256</a:t>
            </a:r>
          </a:p>
          <a:p xmlns:a="http://schemas.openxmlformats.org/drawingml/2006/main">
            <a:r>
              <a:t>university1652,sues200,sues200_satellite_to_uav_200m,full,3,official 80 test IDs as query; all 200 200m UAV IDs in gallery,80,10000,80,200,fraction,0.1375,0.12024857848882675,0.1953982412815094</a:t>
            </a:r>
          </a:p>
          <a:p xmlns:a="http://schemas.openxmlformats.org/drawingml/2006/main">
            <a:r>
              <a:t>university1652,sues200,sues200_satellite_to_uav_250m,full,3,official 80 test IDs as query; all 200 250m UAV IDs in gallery,80,10000,80,200,fraction,0.2125,0.1559772789478302,0.27659568190574646</a:t>
            </a:r>
          </a:p>
          <a:p xmlns:a="http://schemas.openxmlformats.org/drawingml/2006/main">
            <a:r>
              <a:t>university1652,sues200,sues200_satellite_to_uav_300m,full,3,official 80 test IDs as query; all 200 300m UAV IDs in gallery,80,10000,80,200,fraction,0.2,0.16902656853199005,0.25712862610816956</a:t>
            </a:r>
          </a:p>
          <a:p xmlns:a="http://schemas.openxmlformats.org/drawingml/2006/main">
            <a:r>
              <a:t>university1652,sues200,sues200_uav_150m_to_satellite,full,3,official 80 test IDs as query; all 200 satellite IDs in gallery,4000,200,80,200,fraction,0.137,0.18894559144973755,0.24089117348194122</a:t>
            </a:r>
          </a:p>
          <a:p xmlns:a="http://schemas.openxmlformats.org/drawingml/2006/main">
            <a:r>
              <a:t>university1652,sues200,sues200_uav_200m_to_satellite,full,3,official 80 test IDs as query; all 200 satellite IDs in gallery,4000,200,80,200,fraction,0.1515,0.208479106426239,0.26545819640159607</a:t>
            </a:r>
          </a:p>
          <a:p xmlns:a="http://schemas.openxmlformats.org/drawingml/2006/main">
            <a:r>
              <a:t>university1652,sues200,sues200_uav_250m_to_satellite,full,3,official 80 test IDs as query; all 200 satellite IDs in gallery,4000,200,80,200,fraction,0.1755,0.23557870090007782,0.29565736651420593</a:t>
            </a:r>
          </a:p>
          <a:p xmlns:a="http://schemas.openxmlformats.org/drawingml/2006/main">
            <a:r>
              <a:t>university1652,sues200,sues200_uav_300m_to_satellite,full,3,official 80 test IDs as query; all 200 satellite IDs in gallery,4000,200,80,200,fraction,0.184,0.2432452142238617,0.3024904131889343</a:t>
            </a:r>
          </a:p>
          <a:p xmlns:a="http://schemas.openxmlformats.org/drawingml/2006/main">
            <a:r>
              <a:t>sues200,university1652,university1652_drone_to_satellite,visual,1,official test/query_drone -&gt; test/gallery_satellite,37855,951,701,951,fraction,0.10960243032624488,0.14816203713417053,0.18672163784503937</a:t>
            </a:r>
          </a:p>
          <a:p xmlns:a="http://schemas.openxmlformats.org/drawingml/2006/main">
            <a:r>
              <a:t>sues200,university1652,university1652_satellite_to_drone,visual,1,official test/query_satellite -&gt; test/gallery_drone,701,51355,701,951,fraction,0.23680456490727533,0.09340917319059372,0.3162619471549988</a:t>
            </a:r>
          </a:p>
          <a:p xmlns:a="http://schemas.openxmlformats.org/drawingml/2006/main">
            <a:r>
              <a:t>sues200,university1652,university1652_street_to_satellite,visual,1,official test/query_street -&gt; test/gallery_satellite,2579,951,701,951,fraction,0.002714230321830167,0.007708859629929066,0.012703489512205124</a:t>
            </a:r>
          </a:p>
          <a:p xmlns:a="http://schemas.openxmlformats.org/drawingml/2006/main">
            <a:r>
              <a:t>sues200,university1652,university1652_drone_to_satellite,visual,2,official test/query_drone -&gt; test/gallery_satellite,37855,951,701,951,fraction,0.10923259807158896,0.14834623038768768,0.18745988607406616</a:t>
            </a:r>
          </a:p>
          <a:p xmlns:a="http://schemas.openxmlformats.org/drawingml/2006/main">
            <a:r>
              <a:t>sues200,university1652,university1652_satellite_to_drone,visual,2,official test/query_satellite -&gt; test/gallery_drone,701,51355,701,951,fraction,0.26961483594864477,0.10077102482318878,0.34588366746902466</a:t>
            </a:r>
          </a:p>
          <a:p xmlns:a="http://schemas.openxmlformats.org/drawingml/2006/main">
            <a:r>
              <a:t>sues200,university1652,university1652_street_to_satellite,visual,2,official test/query_street -&gt; test/gallery_satellite,2579,951,701,951,fraction,0.0034897246994959287,0.007660148665308952,0.01183057390153408</a:t>
            </a:r>
          </a:p>
          <a:p xmlns:a="http://schemas.openxmlformats.org/drawingml/2006/main">
            <a:r>
              <a:t>sues200,university1652,university1652_drone_to_satellite,visual,3,official test/query_drone -&gt; test/gallery_satellite,37855,951,701,951,fraction,0.11142517500990622,0.14933322370052338,0.18724128603935242</a:t>
            </a:r>
          </a:p>
          <a:p xmlns:a="http://schemas.openxmlformats.org/drawingml/2006/main">
            <a:r>
              <a:t>sues200,university1652,university1652_satellite_to_drone,visual,3,official test/query_satellite -&gt; test/gallery_drone,701,51355,701,951,fraction,0.26390870185449355,0.09211567789316177,0.3443148136138916</a:t>
            </a:r>
          </a:p>
          <a:p xmlns:a="http://schemas.openxmlformats.org/drawingml/2006/main">
            <a:r>
              <a:t>sues200,university1652,university1652_street_to_satellite,visual,3,official test/query_street -&gt; test/gallery_satellite,2579,951,701,951,fraction,0.0015509887553315238,0.005739414598792791,0.009927840903401375</a:t>
            </a:r>
          </a:p>
          <a:p xmlns:a="http://schemas.openxmlformats.org/drawingml/2006/main">
            <a:r>
              <a:t>sues200,university1652,university1652_drone_to_satellite,full,1,official test/query_drone -&gt; test/gallery_satellite,37855,951,701,951,fraction,0.08247259278827103,0.11883430927991867,0.15519599616527557</a:t>
            </a:r>
          </a:p>
          <a:p xmlns:a="http://schemas.openxmlformats.org/drawingml/2006/main">
            <a:r>
              <a:t>sues200,university1652,university1652_satellite_to_drone,full,1,official test/query_satellite -&gt; test/gallery_drone,701,51355,701,951,fraction,0.19686162624821682,0.07131051272153854,0.2846488058567047</a:t>
            </a:r>
          </a:p>
          <a:p xmlns:a="http://schemas.openxmlformats.org/drawingml/2006/main">
            <a:r>
              <a:t>sues200,university1652,university1652_street_to_satellite,full,1,official test/query_street -&gt; test/gallery_satellite,2579,951,701,951,fraction,0.0023264831329972858,0.007645847741514444,0.01296521071344614</a:t>
            </a:r>
          </a:p>
          <a:p xmlns:a="http://schemas.openxmlformats.org/drawingml/2006/main">
            <a:r>
              <a:t>sues200,university1652,university1652_drone_to_satellite,full,2,official test/query_drone -&gt; test/gallery_satellite,37855,951,701,951,fraction,0.07536653018095364,0.10869889706373215,0.14203126728534698</a:t>
            </a:r>
          </a:p>
          <a:p xmlns:a="http://schemas.openxmlformats.org/drawingml/2006/main">
            <a:r>
              <a:t>sues200,university1652,university1652_satellite_to_drone,full,2,official test/query_satellite -&gt; test/gallery_drone,701,51355,701,951,fraction,0.1768901569186876,0.06470777094364166,0.24187061190605164</a:t>
            </a:r>
          </a:p>
          <a:p xmlns:a="http://schemas.openxmlformats.org/drawingml/2006/main">
            <a:r>
              <a:t>sues200,university1652,university1652_street_to_satellite,full,2,official test/query_street -&gt; test/gallery_satellite,2579,951,701,951,fraction,0.0023264831329972858,0.006913135293871164,0.011499788612127304</a:t>
            </a:r>
          </a:p>
          <a:p xmlns:a="http://schemas.openxmlformats.org/drawingml/2006/main">
            <a:r>
              <a:t>sues200,university1652,university1652_drone_to_satellite,full,3,official test/query_drone -&gt; test/gallery_satellite,37855,951,701,951,fraction,0.08749174481574429,0.12212037295103073,0.15674899518489838</a:t>
            </a:r>
          </a:p>
          <a:p xmlns:a="http://schemas.openxmlformats.org/drawingml/2006/main">
            <a:r>
              <a:t>sues200,university1652,university1652_satellite_to_drone,full,3,official test/query_satellite -&gt; test/gallery_drone,701,51355,701,951,fraction,0.17403708987161198,0.07298558205366135,0.2500319182872772</a:t>
            </a:r>
          </a:p>
          <a:p xmlns:a="http://schemas.openxmlformats.org/drawingml/2006/main">
            <a:r>
              <a:t>sues200,university1652,university1652_street_to_satellite,full,3,official test/query_street -&gt; test/gallery_satellite,2579,951,701,951,fraction,0.0023264831329972858,0.007743972819298506,0.013161461800336838</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e942d9c2493a4f87"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7e14a34072c140ef"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6808577d7ad24c2d"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f69b1853bfd2498c"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16b2afdfa0514d4d"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7a8ea82d4672471c"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4" name="Accent rule">
            <a:extLst xmlns:a="http://schemas.openxmlformats.org/drawingml/2006/main">
              <a:ext uri="{FF2B5EF4-FFF2-40B4-BE49-F238E27FC236}">
                <a16:creationId xmlns:a16="http://schemas.microsoft.com/office/drawing/2014/main" id="{A4FDE2A4-C970-4401-BA81-2E96B7078F10}"/>
              </a:ext>
            </a:extLst>
          </p:cNvPr>
          <p:cNvSpPr>
            <a:spLocks xmlns:a="http://schemas.openxmlformats.org/drawingml/2006/main" noGrp="1"/>
          </p:cNvSpPr>
          <p:nvPr/>
        </p:nvSpPr>
        <p:spPr>
          <a:xfrm xmlns:a="http://schemas.openxmlformats.org/drawingml/2006/main">
            <a:off x="3110490" y="1321788"/>
            <a:ext cx="327420" cy="22789"/>
          </a:xfrm>
          <a:prstGeom xmlns:a="http://schemas.openxmlformats.org/drawingml/2006/main" prst="rect">
            <a:avLst/>
          </a:prstGeom>
          <a:solidFill xmlns:a="http://schemas.openxmlformats.org/drawingml/2006/main">
            <a:schemeClr val="accent1"/>
          </a:solidFill>
          <a:ln xmlns:a="http://schemas.openxmlformats.org/drawingml/2006/main">
            <a:noFill/>
            <a:prstDash val="solid"/>
          </a:ln>
        </p:spPr>
      </p:sp>
      <p:sp>
        <p:nvSpPr>
          <p:cNvPr id="2" name="Title">
            <a:extLst xmlns:a="http://schemas.openxmlformats.org/drawingml/2006/main">
              <a:ext uri="{FF2B5EF4-FFF2-40B4-BE49-F238E27FC236}">
                <a16:creationId xmlns:a16="http://schemas.microsoft.com/office/drawing/2014/main" id="{FE636789-0153-4A1D-BB48-7346893BDCCD}"/>
              </a:ext>
            </a:extLst>
          </p:cNvPr>
          <p:cNvSpPr>
            <a:spLocks xmlns:a="http://schemas.openxmlformats.org/drawingml/2006/main" noGrp="1"/>
          </p:cNvSpPr>
          <p:nvPr>
            <p:ph type="title" idx="0"/>
          </p:nvPr>
        </p:nvSpPr>
        <p:spPr>
          <a:xfrm xmlns:a="http://schemas.openxmlformats.org/drawingml/2006/main">
            <a:off x="654840" y="1549682"/>
            <a:ext cx="5238720" cy="592526"/>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3" name="Subtitle">
            <a:extLst xmlns:a="http://schemas.openxmlformats.org/drawingml/2006/main">
              <a:ext uri="{FF2B5EF4-FFF2-40B4-BE49-F238E27FC236}">
                <a16:creationId xmlns:a16="http://schemas.microsoft.com/office/drawing/2014/main" id="{A27326DA-7F5A-4529-9369-8EFE10837F4B}"/>
              </a:ext>
            </a:extLst>
          </p:cNvPr>
          <p:cNvSpPr>
            <a:spLocks xmlns:a="http://schemas.openxmlformats.org/drawingml/2006/main" noGrp="1"/>
          </p:cNvSpPr>
          <p:nvPr>
            <p:ph type="subTitle" idx="1"/>
          </p:nvPr>
        </p:nvSpPr>
        <p:spPr>
          <a:xfrm xmlns:a="http://schemas.openxmlformats.org/drawingml/2006/main">
            <a:off x="982260" y="2256155"/>
            <a:ext cx="4583880" cy="455789"/>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3" name="Accent rule">
            <a:extLst xmlns:a="http://schemas.openxmlformats.org/drawingml/2006/main">
              <a:ext uri="{FF2B5EF4-FFF2-40B4-BE49-F238E27FC236}">
                <a16:creationId xmlns:a16="http://schemas.microsoft.com/office/drawing/2014/main" id="{88634CF8-2E7D-40D6-BEFD-05C08F7030B6}"/>
              </a:ext>
            </a:extLst>
          </p:cNvPr>
          <p:cNvSpPr>
            <a:spLocks xmlns:a="http://schemas.openxmlformats.org/drawingml/2006/main" noGrp="1"/>
          </p:cNvSpPr>
          <p:nvPr/>
        </p:nvSpPr>
        <p:spPr>
          <a:xfrm xmlns:a="http://schemas.openxmlformats.org/drawingml/2006/main">
            <a:off x="3110490" y="1481314"/>
            <a:ext cx="327420" cy="22789"/>
          </a:xfrm>
          <a:prstGeom xmlns:a="http://schemas.openxmlformats.org/drawingml/2006/main" prst="rect">
            <a:avLst/>
          </a:prstGeom>
          <a:solidFill xmlns:a="http://schemas.openxmlformats.org/drawingml/2006/main">
            <a:schemeClr val="accent1"/>
          </a:solidFill>
          <a:ln xmlns:a="http://schemas.openxmlformats.org/drawingml/2006/main">
            <a:noFill/>
            <a:prstDash val="solid"/>
          </a:ln>
        </p:spPr>
      </p:sp>
      <p:sp>
        <p:nvSpPr>
          <p:cNvPr id="2" name="Section title">
            <a:extLst xmlns:a="http://schemas.openxmlformats.org/drawingml/2006/main">
              <a:ext uri="{FF2B5EF4-FFF2-40B4-BE49-F238E27FC236}">
                <a16:creationId xmlns:a16="http://schemas.microsoft.com/office/drawing/2014/main" id="{5F6D852C-734E-46D0-9F29-023025A18792}"/>
              </a:ext>
            </a:extLst>
          </p:cNvPr>
          <p:cNvSpPr>
            <a:spLocks xmlns:a="http://schemas.openxmlformats.org/drawingml/2006/main" noGrp="1"/>
          </p:cNvSpPr>
          <p:nvPr>
            <p:ph type="title" idx="0"/>
          </p:nvPr>
        </p:nvSpPr>
        <p:spPr>
          <a:xfrm xmlns:a="http://schemas.openxmlformats.org/drawingml/2006/main">
            <a:off x="654840" y="1709208"/>
            <a:ext cx="5238720" cy="683683"/>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4" name="Accent rule">
            <a:extLst xmlns:a="http://schemas.openxmlformats.org/drawingml/2006/main">
              <a:ext uri="{FF2B5EF4-FFF2-40B4-BE49-F238E27FC236}">
                <a16:creationId xmlns:a16="http://schemas.microsoft.com/office/drawing/2014/main" id="{C51B95F3-2F3C-4432-BA17-4A12823729E9}"/>
              </a:ext>
            </a:extLst>
          </p:cNvPr>
          <p:cNvSpPr>
            <a:spLocks xmlns:a="http://schemas.openxmlformats.org/drawingml/2006/main" noGrp="1"/>
          </p:cNvSpPr>
          <p:nvPr/>
        </p:nvSpPr>
        <p:spPr>
          <a:xfrm xmlns:a="http://schemas.openxmlformats.org/drawingml/2006/main">
            <a:off x="368348" y="911578"/>
            <a:ext cx="327420" cy="22789"/>
          </a:xfrm>
          <a:prstGeom xmlns:a="http://schemas.openxmlformats.org/drawingml/2006/main" prst="rect">
            <a:avLst/>
          </a:prstGeom>
          <a:solidFill xmlns:a="http://schemas.openxmlformats.org/drawingml/2006/main">
            <a:schemeClr val="accent1"/>
          </a:solidFill>
          <a:ln xmlns:a="http://schemas.openxmlformats.org/drawingml/2006/main">
            <a:noFill/>
            <a:prstDash val="solid"/>
          </a:ln>
        </p:spPr>
      </p:sp>
      <p:sp>
        <p:nvSpPr>
          <p:cNvPr id="2" name="Title">
            <a:extLst xmlns:a="http://schemas.openxmlformats.org/drawingml/2006/main">
              <a:ext uri="{FF2B5EF4-FFF2-40B4-BE49-F238E27FC236}">
                <a16:creationId xmlns:a16="http://schemas.microsoft.com/office/drawing/2014/main" id="{A757647E-338C-4BDF-AD31-3E1E070DD5C0}"/>
              </a:ext>
            </a:extLst>
          </p:cNvPr>
          <p:cNvSpPr>
            <a:spLocks xmlns:a="http://schemas.openxmlformats.org/drawingml/2006/main" noGrp="1"/>
          </p:cNvSpPr>
          <p:nvPr>
            <p:ph type="title" idx="0"/>
          </p:nvPr>
        </p:nvSpPr>
        <p:spPr>
          <a:xfrm xmlns:a="http://schemas.openxmlformats.org/drawingml/2006/main">
            <a:off x="368348" y="319052"/>
            <a:ext cx="5811705" cy="501368"/>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3" name="Body">
            <a:extLst xmlns:a="http://schemas.openxmlformats.org/drawingml/2006/main">
              <a:ext uri="{FF2B5EF4-FFF2-40B4-BE49-F238E27FC236}">
                <a16:creationId xmlns:a16="http://schemas.microsoft.com/office/drawing/2014/main" id="{DD4BDA68-865D-4589-84CE-B413E794B908}"/>
              </a:ext>
            </a:extLst>
          </p:cNvPr>
          <p:cNvSpPr>
            <a:spLocks xmlns:a="http://schemas.openxmlformats.org/drawingml/2006/main" noGrp="1"/>
          </p:cNvSpPr>
          <p:nvPr>
            <p:ph type="body" idx="1"/>
          </p:nvPr>
        </p:nvSpPr>
        <p:spPr>
          <a:xfrm xmlns:a="http://schemas.openxmlformats.org/drawingml/2006/main">
            <a:off x="368348" y="1139472"/>
            <a:ext cx="5811705" cy="2552418"/>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122783" indent="-122783">
              <a:lnSpc>
                <a:spcPct val="110000"/>
              </a:lnSpc>
              <a:spcBef>
                <a:spcPts val="0"/>
              </a:spcBef>
              <a:spcAft>
                <a:spcPts val="645"/>
              </a:spcAft>
              <a:buChar char="•"/>
            </a:lvl1pPr>
            <a:lvl2pPr marL="286493" indent="-122783">
              <a:lnSpc>
                <a:spcPct val="110000"/>
              </a:lnSpc>
              <a:spcBef>
                <a:spcPts val="0"/>
              </a:spcBef>
              <a:spcAft>
                <a:spcPts val="645"/>
              </a:spcAft>
              <a:buChar char="•"/>
            </a:lvl2pPr>
            <a:lvl3pPr marL="450203" indent="-122783">
              <a:lnSpc>
                <a:spcPct val="110000"/>
              </a:lnSpc>
              <a:spcBef>
                <a:spcPts val="0"/>
              </a:spcBef>
              <a:spcAft>
                <a:spcPts val="645"/>
              </a:spcAft>
              <a:buChar char="•"/>
            </a:lvl3pPr>
            <a:lvl4pPr marL="613913" indent="-122783">
              <a:lnSpc>
                <a:spcPct val="110000"/>
              </a:lnSpc>
              <a:spcBef>
                <a:spcPts val="0"/>
              </a:spcBef>
              <a:spcAft>
                <a:spcPts val="645"/>
              </a:spcAft>
              <a:buChar char="•"/>
            </a:lvl4pPr>
            <a:lvl5pPr marL="777623" indent="-122783">
              <a:lnSpc>
                <a:spcPct val="110000"/>
              </a:lnSpc>
              <a:spcBef>
                <a:spcPts val="0"/>
              </a:spcBef>
              <a:spcAft>
                <a:spcPts val="645"/>
              </a:spcAft>
              <a:buChar char="•"/>
            </a:lvl5pPr>
            <a:lvl6pPr marL="941333" indent="-122783">
              <a:lnSpc>
                <a:spcPct val="110000"/>
              </a:lnSpc>
              <a:spcBef>
                <a:spcPts val="0"/>
              </a:spcBef>
              <a:spcAft>
                <a:spcPts val="645"/>
              </a:spcAft>
              <a:buChar char="•"/>
            </a:lvl6pPr>
            <a:lvl7pPr marL="1105043" indent="-122783">
              <a:lnSpc>
                <a:spcPct val="110000"/>
              </a:lnSpc>
              <a:spcBef>
                <a:spcPts val="0"/>
              </a:spcBef>
              <a:spcAft>
                <a:spcPts val="645"/>
              </a:spcAft>
              <a:buChar char="•"/>
            </a:lvl7pPr>
            <a:lvl8pPr marL="1268753" indent="-122783">
              <a:lnSpc>
                <a:spcPct val="110000"/>
              </a:lnSpc>
              <a:spcBef>
                <a:spcPts val="0"/>
              </a:spcBef>
              <a:spcAft>
                <a:spcPts val="645"/>
              </a:spcAft>
              <a:buChar char="•"/>
            </a:lvl8pPr>
            <a:lvl9pPr marL="1432463" indent="-122783">
              <a:lnSpc>
                <a:spcPct val="110000"/>
              </a:lnSpc>
              <a:spcBef>
                <a:spcPts val="0"/>
              </a:spcBef>
              <a:spcAft>
                <a:spcPts val="645"/>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5" name="Accent rule">
            <a:extLst xmlns:a="http://schemas.openxmlformats.org/drawingml/2006/main">
              <a:ext uri="{FF2B5EF4-FFF2-40B4-BE49-F238E27FC236}">
                <a16:creationId xmlns:a16="http://schemas.microsoft.com/office/drawing/2014/main" id="{B7F41442-EB5B-492A-96E7-B7FD6CB8B0EE}"/>
              </a:ext>
            </a:extLst>
          </p:cNvPr>
          <p:cNvSpPr>
            <a:spLocks xmlns:a="http://schemas.openxmlformats.org/drawingml/2006/main" noGrp="1"/>
          </p:cNvSpPr>
          <p:nvPr/>
        </p:nvSpPr>
        <p:spPr>
          <a:xfrm xmlns:a="http://schemas.openxmlformats.org/drawingml/2006/main">
            <a:off x="368348" y="911578"/>
            <a:ext cx="327420" cy="22789"/>
          </a:xfrm>
          <a:prstGeom xmlns:a="http://schemas.openxmlformats.org/drawingml/2006/main" prst="rect">
            <a:avLst/>
          </a:prstGeom>
          <a:solidFill xmlns:a="http://schemas.openxmlformats.org/drawingml/2006/main">
            <a:schemeClr val="accent1"/>
          </a:solidFill>
          <a:ln xmlns:a="http://schemas.openxmlformats.org/drawingml/2006/main">
            <a:noFill/>
            <a:prstDash val="solid"/>
          </a:ln>
        </p:spPr>
      </p:sp>
      <p:sp>
        <p:nvSpPr>
          <p:cNvPr id="2" name="Title">
            <a:extLst xmlns:a="http://schemas.openxmlformats.org/drawingml/2006/main">
              <a:ext uri="{FF2B5EF4-FFF2-40B4-BE49-F238E27FC236}">
                <a16:creationId xmlns:a16="http://schemas.microsoft.com/office/drawing/2014/main" id="{8CAF3212-FBA0-4BA5-8C11-804F933BEA24}"/>
              </a:ext>
            </a:extLst>
          </p:cNvPr>
          <p:cNvSpPr>
            <a:spLocks xmlns:a="http://schemas.openxmlformats.org/drawingml/2006/main" noGrp="1"/>
          </p:cNvSpPr>
          <p:nvPr>
            <p:ph type="title" idx="0"/>
          </p:nvPr>
        </p:nvSpPr>
        <p:spPr>
          <a:xfrm xmlns:a="http://schemas.openxmlformats.org/drawingml/2006/main">
            <a:off x="368348" y="319052"/>
            <a:ext cx="5811705" cy="501368"/>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3" name="Left column">
            <a:extLst xmlns:a="http://schemas.openxmlformats.org/drawingml/2006/main">
              <a:ext uri="{FF2B5EF4-FFF2-40B4-BE49-F238E27FC236}">
                <a16:creationId xmlns:a16="http://schemas.microsoft.com/office/drawing/2014/main" id="{A498E5B7-90F5-4DD0-861E-185A7E95FB96}"/>
              </a:ext>
            </a:extLst>
          </p:cNvPr>
          <p:cNvSpPr>
            <a:spLocks xmlns:a="http://schemas.openxmlformats.org/drawingml/2006/main" noGrp="1"/>
          </p:cNvSpPr>
          <p:nvPr>
            <p:ph type="body" idx="1"/>
          </p:nvPr>
        </p:nvSpPr>
        <p:spPr>
          <a:xfrm xmlns:a="http://schemas.openxmlformats.org/drawingml/2006/main">
            <a:off x="368348" y="1139472"/>
            <a:ext cx="2701215" cy="2552418"/>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122783" indent="-122783">
              <a:lnSpc>
                <a:spcPct val="110000"/>
              </a:lnSpc>
              <a:spcBef>
                <a:spcPts val="0"/>
              </a:spcBef>
              <a:spcAft>
                <a:spcPts val="645"/>
              </a:spcAft>
              <a:buChar char="•"/>
            </a:lvl1pPr>
            <a:lvl2pPr marL="286493" indent="-122783">
              <a:lnSpc>
                <a:spcPct val="110000"/>
              </a:lnSpc>
              <a:spcBef>
                <a:spcPts val="0"/>
              </a:spcBef>
              <a:spcAft>
                <a:spcPts val="645"/>
              </a:spcAft>
              <a:buChar char="•"/>
            </a:lvl2pPr>
            <a:lvl3pPr marL="450203" indent="-122783">
              <a:lnSpc>
                <a:spcPct val="110000"/>
              </a:lnSpc>
              <a:spcBef>
                <a:spcPts val="0"/>
              </a:spcBef>
              <a:spcAft>
                <a:spcPts val="645"/>
              </a:spcAft>
              <a:buChar char="•"/>
            </a:lvl3pPr>
            <a:lvl4pPr marL="613913" indent="-122783">
              <a:lnSpc>
                <a:spcPct val="110000"/>
              </a:lnSpc>
              <a:spcBef>
                <a:spcPts val="0"/>
              </a:spcBef>
              <a:spcAft>
                <a:spcPts val="645"/>
              </a:spcAft>
              <a:buChar char="•"/>
            </a:lvl4pPr>
            <a:lvl5pPr marL="777623" indent="-122783">
              <a:lnSpc>
                <a:spcPct val="110000"/>
              </a:lnSpc>
              <a:spcBef>
                <a:spcPts val="0"/>
              </a:spcBef>
              <a:spcAft>
                <a:spcPts val="645"/>
              </a:spcAft>
              <a:buChar char="•"/>
            </a:lvl5pPr>
            <a:lvl6pPr marL="941333" indent="-122783">
              <a:lnSpc>
                <a:spcPct val="110000"/>
              </a:lnSpc>
              <a:spcBef>
                <a:spcPts val="0"/>
              </a:spcBef>
              <a:spcAft>
                <a:spcPts val="645"/>
              </a:spcAft>
              <a:buChar char="•"/>
            </a:lvl6pPr>
            <a:lvl7pPr marL="1105043" indent="-122783">
              <a:lnSpc>
                <a:spcPct val="110000"/>
              </a:lnSpc>
              <a:spcBef>
                <a:spcPts val="0"/>
              </a:spcBef>
              <a:spcAft>
                <a:spcPts val="645"/>
              </a:spcAft>
              <a:buChar char="•"/>
            </a:lvl7pPr>
            <a:lvl8pPr marL="1268753" indent="-122783">
              <a:lnSpc>
                <a:spcPct val="110000"/>
              </a:lnSpc>
              <a:spcBef>
                <a:spcPts val="0"/>
              </a:spcBef>
              <a:spcAft>
                <a:spcPts val="645"/>
              </a:spcAft>
              <a:buChar char="•"/>
            </a:lvl8pPr>
            <a:lvl9pPr marL="1432463" indent="-122783">
              <a:lnSpc>
                <a:spcPct val="110000"/>
              </a:lnSpc>
              <a:spcBef>
                <a:spcPts val="0"/>
              </a:spcBef>
              <a:spcAft>
                <a:spcPts val="645"/>
              </a:spcAft>
              <a:buChar char="•"/>
            </a:lvl9pPr>
          </a:lstStyle>
          <a:p xmlns:a="http://schemas.openxmlformats.org/drawingml/2006/main"/>
        </p:txBody>
      </p:sp>
      <p:sp>
        <p:nvSpPr>
          <p:cNvPr id="4" name="Right column">
            <a:extLst xmlns:a="http://schemas.openxmlformats.org/drawingml/2006/main">
              <a:ext uri="{FF2B5EF4-FFF2-40B4-BE49-F238E27FC236}">
                <a16:creationId xmlns:a16="http://schemas.microsoft.com/office/drawing/2014/main" id="{8E0BCD06-DF37-4D33-AFFC-A13AEFC5C551}"/>
              </a:ext>
            </a:extLst>
          </p:cNvPr>
          <p:cNvSpPr>
            <a:spLocks xmlns:a="http://schemas.openxmlformats.org/drawingml/2006/main" noGrp="1"/>
          </p:cNvSpPr>
          <p:nvPr>
            <p:ph type="body" idx="2"/>
          </p:nvPr>
        </p:nvSpPr>
        <p:spPr>
          <a:xfrm xmlns:a="http://schemas.openxmlformats.org/drawingml/2006/main">
            <a:off x="3478838" y="1139472"/>
            <a:ext cx="2701215" cy="2552418"/>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122783" indent="-122783">
              <a:lnSpc>
                <a:spcPct val="110000"/>
              </a:lnSpc>
              <a:spcBef>
                <a:spcPts val="0"/>
              </a:spcBef>
              <a:spcAft>
                <a:spcPts val="645"/>
              </a:spcAft>
              <a:buChar char="•"/>
            </a:lvl1pPr>
            <a:lvl2pPr marL="286493" indent="-122783">
              <a:lnSpc>
                <a:spcPct val="110000"/>
              </a:lnSpc>
              <a:spcBef>
                <a:spcPts val="0"/>
              </a:spcBef>
              <a:spcAft>
                <a:spcPts val="645"/>
              </a:spcAft>
              <a:buChar char="•"/>
            </a:lvl2pPr>
            <a:lvl3pPr marL="450203" indent="-122783">
              <a:lnSpc>
                <a:spcPct val="110000"/>
              </a:lnSpc>
              <a:spcBef>
                <a:spcPts val="0"/>
              </a:spcBef>
              <a:spcAft>
                <a:spcPts val="645"/>
              </a:spcAft>
              <a:buChar char="•"/>
            </a:lvl3pPr>
            <a:lvl4pPr marL="613913" indent="-122783">
              <a:lnSpc>
                <a:spcPct val="110000"/>
              </a:lnSpc>
              <a:spcBef>
                <a:spcPts val="0"/>
              </a:spcBef>
              <a:spcAft>
                <a:spcPts val="645"/>
              </a:spcAft>
              <a:buChar char="•"/>
            </a:lvl4pPr>
            <a:lvl5pPr marL="777623" indent="-122783">
              <a:lnSpc>
                <a:spcPct val="110000"/>
              </a:lnSpc>
              <a:spcBef>
                <a:spcPts val="0"/>
              </a:spcBef>
              <a:spcAft>
                <a:spcPts val="645"/>
              </a:spcAft>
              <a:buChar char="•"/>
            </a:lvl5pPr>
            <a:lvl6pPr marL="941333" indent="-122783">
              <a:lnSpc>
                <a:spcPct val="110000"/>
              </a:lnSpc>
              <a:spcBef>
                <a:spcPts val="0"/>
              </a:spcBef>
              <a:spcAft>
                <a:spcPts val="645"/>
              </a:spcAft>
              <a:buChar char="•"/>
            </a:lvl6pPr>
            <a:lvl7pPr marL="1105043" indent="-122783">
              <a:lnSpc>
                <a:spcPct val="110000"/>
              </a:lnSpc>
              <a:spcBef>
                <a:spcPts val="0"/>
              </a:spcBef>
              <a:spcAft>
                <a:spcPts val="645"/>
              </a:spcAft>
              <a:buChar char="•"/>
            </a:lvl7pPr>
            <a:lvl8pPr marL="1268753" indent="-122783">
              <a:lnSpc>
                <a:spcPct val="110000"/>
              </a:lnSpc>
              <a:spcBef>
                <a:spcPts val="0"/>
              </a:spcBef>
              <a:spcAft>
                <a:spcPts val="645"/>
              </a:spcAft>
              <a:buChar char="•"/>
            </a:lvl8pPr>
            <a:lvl9pPr marL="1432463" indent="-122783">
              <a:lnSpc>
                <a:spcPct val="110000"/>
              </a:lnSpc>
              <a:spcBef>
                <a:spcPts val="0"/>
              </a:spcBef>
              <a:spcAft>
                <a:spcPts val="645"/>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4" name="Accent rule">
            <a:extLst xmlns:a="http://schemas.openxmlformats.org/drawingml/2006/main">
              <a:ext uri="{FF2B5EF4-FFF2-40B4-BE49-F238E27FC236}">
                <a16:creationId xmlns:a16="http://schemas.microsoft.com/office/drawing/2014/main" id="{7019A805-10D6-4C31-BF03-4DD622D89B96}"/>
              </a:ext>
            </a:extLst>
          </p:cNvPr>
          <p:cNvSpPr>
            <a:spLocks xmlns:a="http://schemas.openxmlformats.org/drawingml/2006/main" noGrp="1"/>
          </p:cNvSpPr>
          <p:nvPr/>
        </p:nvSpPr>
        <p:spPr>
          <a:xfrm xmlns:a="http://schemas.openxmlformats.org/drawingml/2006/main">
            <a:off x="368348" y="911578"/>
            <a:ext cx="327420" cy="22789"/>
          </a:xfrm>
          <a:prstGeom xmlns:a="http://schemas.openxmlformats.org/drawingml/2006/main" prst="rect">
            <a:avLst/>
          </a:prstGeom>
          <a:solidFill xmlns:a="http://schemas.openxmlformats.org/drawingml/2006/main">
            <a:schemeClr val="accent1"/>
          </a:solidFill>
          <a:ln xmlns:a="http://schemas.openxmlformats.org/drawingml/2006/main">
            <a:noFill/>
            <a:prstDash val="solid"/>
          </a:ln>
        </p:spPr>
      </p:sp>
      <p:sp>
        <p:nvSpPr>
          <p:cNvPr id="2" name="Title">
            <a:extLst xmlns:a="http://schemas.openxmlformats.org/drawingml/2006/main">
              <a:ext uri="{FF2B5EF4-FFF2-40B4-BE49-F238E27FC236}">
                <a16:creationId xmlns:a16="http://schemas.microsoft.com/office/drawing/2014/main" id="{44E2C291-0AB8-4F72-9B2D-ED63F6F1A2CB}"/>
              </a:ext>
            </a:extLst>
          </p:cNvPr>
          <p:cNvSpPr>
            <a:spLocks xmlns:a="http://schemas.openxmlformats.org/drawingml/2006/main" noGrp="1"/>
          </p:cNvSpPr>
          <p:nvPr>
            <p:ph type="title" idx="0"/>
          </p:nvPr>
        </p:nvSpPr>
        <p:spPr>
          <a:xfrm xmlns:a="http://schemas.openxmlformats.org/drawingml/2006/main">
            <a:off x="368348" y="319052"/>
            <a:ext cx="5811705" cy="501368"/>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3" name="Left column">
            <a:extLst xmlns:a="http://schemas.openxmlformats.org/drawingml/2006/main">
              <a:ext uri="{FF2B5EF4-FFF2-40B4-BE49-F238E27FC236}">
                <a16:creationId xmlns:a16="http://schemas.microsoft.com/office/drawing/2014/main" id="{7F1108BE-9621-47AC-AD35-A596A899EDA8}"/>
              </a:ext>
            </a:extLst>
          </p:cNvPr>
          <p:cNvSpPr>
            <a:spLocks xmlns:a="http://schemas.openxmlformats.org/drawingml/2006/main" noGrp="1"/>
          </p:cNvSpPr>
          <p:nvPr>
            <p:ph type="body" idx="1"/>
          </p:nvPr>
        </p:nvSpPr>
        <p:spPr>
          <a:xfrm xmlns:a="http://schemas.openxmlformats.org/drawingml/2006/main">
            <a:off x="368348" y="1139472"/>
            <a:ext cx="2701215" cy="2552418"/>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122783" indent="-122783">
              <a:lnSpc>
                <a:spcPct val="110000"/>
              </a:lnSpc>
              <a:spcBef>
                <a:spcPts val="0"/>
              </a:spcBef>
              <a:spcAft>
                <a:spcPts val="645"/>
              </a:spcAft>
              <a:buChar char="•"/>
            </a:lvl1pPr>
            <a:lvl2pPr marL="286493" indent="-122783">
              <a:lnSpc>
                <a:spcPct val="110000"/>
              </a:lnSpc>
              <a:spcBef>
                <a:spcPts val="0"/>
              </a:spcBef>
              <a:spcAft>
                <a:spcPts val="645"/>
              </a:spcAft>
              <a:buChar char="•"/>
            </a:lvl2pPr>
            <a:lvl3pPr marL="450203" indent="-122783">
              <a:lnSpc>
                <a:spcPct val="110000"/>
              </a:lnSpc>
              <a:spcBef>
                <a:spcPts val="0"/>
              </a:spcBef>
              <a:spcAft>
                <a:spcPts val="645"/>
              </a:spcAft>
              <a:buChar char="•"/>
            </a:lvl3pPr>
            <a:lvl4pPr marL="613913" indent="-122783">
              <a:lnSpc>
                <a:spcPct val="110000"/>
              </a:lnSpc>
              <a:spcBef>
                <a:spcPts val="0"/>
              </a:spcBef>
              <a:spcAft>
                <a:spcPts val="645"/>
              </a:spcAft>
              <a:buChar char="•"/>
            </a:lvl4pPr>
            <a:lvl5pPr marL="777623" indent="-122783">
              <a:lnSpc>
                <a:spcPct val="110000"/>
              </a:lnSpc>
              <a:spcBef>
                <a:spcPts val="0"/>
              </a:spcBef>
              <a:spcAft>
                <a:spcPts val="645"/>
              </a:spcAft>
              <a:buChar char="•"/>
            </a:lvl5pPr>
            <a:lvl6pPr marL="941333" indent="-122783">
              <a:lnSpc>
                <a:spcPct val="110000"/>
              </a:lnSpc>
              <a:spcBef>
                <a:spcPts val="0"/>
              </a:spcBef>
              <a:spcAft>
                <a:spcPts val="645"/>
              </a:spcAft>
              <a:buChar char="•"/>
            </a:lvl6pPr>
            <a:lvl7pPr marL="1105043" indent="-122783">
              <a:lnSpc>
                <a:spcPct val="110000"/>
              </a:lnSpc>
              <a:spcBef>
                <a:spcPts val="0"/>
              </a:spcBef>
              <a:spcAft>
                <a:spcPts val="645"/>
              </a:spcAft>
              <a:buChar char="•"/>
            </a:lvl7pPr>
            <a:lvl8pPr marL="1268753" indent="-122783">
              <a:lnSpc>
                <a:spcPct val="110000"/>
              </a:lnSpc>
              <a:spcBef>
                <a:spcPts val="0"/>
              </a:spcBef>
              <a:spcAft>
                <a:spcPts val="645"/>
              </a:spcAft>
              <a:buChar char="•"/>
            </a:lvl8pPr>
            <a:lvl9pPr marL="1432463" indent="-122783">
              <a:lnSpc>
                <a:spcPct val="110000"/>
              </a:lnSpc>
              <a:spcBef>
                <a:spcPts val="0"/>
              </a:spcBef>
              <a:spcAft>
                <a:spcPts val="645"/>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02ef5d83bd264344" /><Relationship Type="http://schemas.openxmlformats.org/officeDocument/2006/relationships/slideLayout" Target="/ppt/slideLayouts/slideLayout1.xml" Id="R70f7defa03d049c7" /><Relationship Type="http://schemas.openxmlformats.org/officeDocument/2006/relationships/slideLayout" Target="/ppt/slideLayouts/slideLayout2.xml" Id="Rd606a23ba5314540" /><Relationship Type="http://schemas.openxmlformats.org/officeDocument/2006/relationships/slideLayout" Target="/ppt/slideLayouts/slideLayout3.xml" Id="Re49a4a5bb0964319" /><Relationship Type="http://schemas.openxmlformats.org/officeDocument/2006/relationships/slideLayout" Target="/ppt/slideLayouts/slideLayout4.xml" Id="R352ef1f50bb74485" /><Relationship Type="http://schemas.openxmlformats.org/officeDocument/2006/relationships/slideLayout" Target="/ppt/slideLayouts/slideLayout5.xml" Id="Rebf6f4bad21c45ae" /><Relationship Type="http://schemas.openxmlformats.org/officeDocument/2006/relationships/slideLayout" Target="/ppt/slideLayouts/slideLayout6.xml" Id="Rfdd53ba777594053"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70f7defa03d049c7"/>
    <p:sldLayoutId xmlns:r="http://schemas.openxmlformats.org/officeDocument/2006/relationships" id="2147483650" r:id="Rd606a23ba5314540"/>
    <p:sldLayoutId xmlns:r="http://schemas.openxmlformats.org/officeDocument/2006/relationships" id="2147483651" r:id="Re49a4a5bb0964319"/>
    <p:sldLayoutId xmlns:r="http://schemas.openxmlformats.org/officeDocument/2006/relationships" id="2147483652" r:id="R352ef1f50bb74485"/>
    <p:sldLayoutId xmlns:r="http://schemas.openxmlformats.org/officeDocument/2006/relationships" id="2147483653" r:id="Rebf6f4bad21c45ae"/>
    <p:sldLayoutId xmlns:r="http://schemas.openxmlformats.org/officeDocument/2006/relationships" id="2147483654" r:id="Rfdd53ba777594053"/>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fe3eedb4733b407f" /><Relationship Type="http://schemas.openxmlformats.org/officeDocument/2006/relationships/notesSlide" Target="/ppt/notesSlides/notesSlide1.xml" Id="R02df92226153430b"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2" name="sues_to_university/training-evaluation-direction">
            <a:extLst xmlns:a="http://schemas.openxmlformats.org/drawingml/2006/main">
              <a:ext uri="{FF2B5EF4-FFF2-40B4-BE49-F238E27FC236}">
                <a16:creationId xmlns:a16="http://schemas.microsoft.com/office/drawing/2014/main" id="{4E6CB807-AC5E-4056-ADC4-B7D11CA6D602}"/>
              </a:ext>
            </a:extLst>
          </p:cNvPr>
          <p:cNvSpPr>
            <a:spLocks xmlns:a="http://schemas.openxmlformats.org/drawingml/2006/main" noGrp="1"/>
          </p:cNvSpPr>
          <p:nvPr/>
        </p:nvSpPr>
        <p:spPr>
          <a:xfrm xmlns:a="http://schemas.openxmlformats.org/drawingml/2006/main">
            <a:off x="190500" y="111760"/>
            <a:ext cx="3233833" cy="15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000" b="1">
                <a:solidFill>
                  <a:srgbClr val="222222"/>
                </a:solidFill>
                <a:latin typeface="Arial"/>
                <a:ea typeface="Arial"/>
                <a:cs typeface="Arial"/>
              </a:defRPr>
            </a:pPr>
            <a:r>
              <a:rPr sz="1000" b="1">
                <a:solidFill>
                  <a:srgbClr val="222222"/>
                </a:solidFill>
                <a:latin typeface="Arial"/>
                <a:ea typeface="Arial"/>
                <a:cs typeface="Arial"/>
              </a:rPr>
              <a:t>Trained on SUES-200 → evaluated on University-1652</a:t>
            </a:r>
          </a:p>
        </p:txBody>
      </p:sp>
      <p:sp>
        <p:nvSpPr>
          <p:cNvPr id="2" name="sues_to_university/study-title">
            <a:extLst xmlns:a="http://schemas.openxmlformats.org/drawingml/2006/main">
              <a:ext uri="{FF2B5EF4-FFF2-40B4-BE49-F238E27FC236}">
                <a16:creationId xmlns:a16="http://schemas.microsoft.com/office/drawing/2014/main" id="{9EEED62B-20CF-47B1-B768-783ED976DFCC}"/>
              </a:ext>
            </a:extLst>
          </p:cNvPr>
          <p:cNvSpPr>
            <a:spLocks xmlns:a="http://schemas.openxmlformats.org/drawingml/2006/main" noGrp="1"/>
          </p:cNvSpPr>
          <p:nvPr/>
        </p:nvSpPr>
        <p:spPr>
          <a:xfrm xmlns:a="http://schemas.openxmlformats.org/drawingml/2006/main">
            <a:off x="190500" y="326644"/>
            <a:ext cx="1788128" cy="142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900" b="1">
                <a:solidFill>
                  <a:srgbClr val="222222"/>
                </a:solidFill>
                <a:latin typeface="Arial"/>
                <a:ea typeface="Arial"/>
                <a:cs typeface="Arial"/>
              </a:defRPr>
            </a:pPr>
            <a:r>
              <a:rPr sz="900" b="1">
                <a:solidFill>
                  <a:srgbClr val="222222"/>
                </a:solidFill>
                <a:latin typeface="Arial"/>
                <a:ea typeface="Arial"/>
                <a:cs typeface="Arial"/>
              </a:rPr>
              <a:t>Zero-shot cross-dataset retrieval</a:t>
            </a:r>
          </a:p>
        </p:txBody>
      </p:sp>
      <p:sp>
        <p:nvSpPr>
          <p:cNvPr id="3" name="sues_to_university/legend/visual/marker">
            <a:extLst xmlns:a="http://schemas.openxmlformats.org/drawingml/2006/main">
              <a:ext uri="{FF2B5EF4-FFF2-40B4-BE49-F238E27FC236}">
                <a16:creationId xmlns:a16="http://schemas.microsoft.com/office/drawing/2014/main" id="{D3B2956D-C54B-4BAD-8435-EA99C0ED28C1}"/>
              </a:ext>
            </a:extLst>
          </p:cNvPr>
          <p:cNvSpPr>
            <a:spLocks xmlns:a="http://schemas.openxmlformats.org/drawingml/2006/main" noGrp="1"/>
          </p:cNvSpPr>
          <p:nvPr/>
        </p:nvSpPr>
        <p:spPr>
          <a:xfrm xmlns:a="http://schemas.openxmlformats.org/drawingml/2006/main">
            <a:off x="205740" y="586740"/>
            <a:ext cx="45720" cy="45720"/>
          </a:xfrm>
          <a:prstGeom xmlns:a="http://schemas.openxmlformats.org/drawingml/2006/main" prst="ellipse">
            <a:avLst/>
          </a:prstGeom>
          <a:solidFill xmlns:a="http://schemas.openxmlformats.org/drawingml/2006/main">
            <a:srgbClr val="0072B2"/>
          </a:solidFill>
          <a:ln xmlns:a="http://schemas.openxmlformats.org/drawingml/2006/main" w="0">
            <a:noFill/>
          </a:ln>
        </p:spPr>
      </p:sp>
      <p:sp>
        <p:nvSpPr>
          <p:cNvPr id="4" name="sues_to_university/legend/visual/text">
            <a:extLst xmlns:a="http://schemas.openxmlformats.org/drawingml/2006/main">
              <a:ext uri="{FF2B5EF4-FFF2-40B4-BE49-F238E27FC236}">
                <a16:creationId xmlns:a16="http://schemas.microsoft.com/office/drawing/2014/main" id="{07B233D5-B3DD-47A8-A8AF-1EF9BD3458B3}"/>
              </a:ext>
            </a:extLst>
          </p:cNvPr>
          <p:cNvSpPr>
            <a:spLocks xmlns:a="http://schemas.openxmlformats.org/drawingml/2006/main" noGrp="1"/>
          </p:cNvSpPr>
          <p:nvPr/>
        </p:nvSpPr>
        <p:spPr>
          <a:xfrm xmlns:a="http://schemas.openxmlformats.org/drawingml/2006/main">
            <a:off x="317500" y="554228"/>
            <a:ext cx="284131"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800" b="0">
                <a:solidFill>
                  <a:srgbClr val="222222"/>
                </a:solidFill>
                <a:latin typeface="Arial"/>
                <a:ea typeface="Arial"/>
                <a:cs typeface="Arial"/>
              </a:defRPr>
            </a:pPr>
            <a:r>
              <a:rPr sz="800" b="0">
                <a:solidFill>
                  <a:srgbClr val="222222"/>
                </a:solidFill>
                <a:latin typeface="Arial"/>
                <a:ea typeface="Arial"/>
                <a:cs typeface="Arial"/>
              </a:rPr>
              <a:t>Visual</a:t>
            </a:r>
          </a:p>
        </p:txBody>
      </p:sp>
      <p:sp>
        <p:nvSpPr>
          <p:cNvPr id="5" name="sues_to_university/legend/full/marker">
            <a:extLst xmlns:a="http://schemas.openxmlformats.org/drawingml/2006/main">
              <a:ext uri="{FF2B5EF4-FFF2-40B4-BE49-F238E27FC236}">
                <a16:creationId xmlns:a16="http://schemas.microsoft.com/office/drawing/2014/main" id="{CDC299B7-F2C3-4FBE-87F0-08E5470B2F11}"/>
              </a:ext>
            </a:extLst>
          </p:cNvPr>
          <p:cNvSpPr>
            <a:spLocks xmlns:a="http://schemas.openxmlformats.org/drawingml/2006/main" noGrp="1"/>
          </p:cNvSpPr>
          <p:nvPr/>
        </p:nvSpPr>
        <p:spPr>
          <a:xfrm xmlns:a="http://schemas.openxmlformats.org/drawingml/2006/main">
            <a:off x="1069340" y="586740"/>
            <a:ext cx="45720" cy="45720"/>
          </a:xfrm>
          <a:prstGeom xmlns:a="http://schemas.openxmlformats.org/drawingml/2006/main" prst="rect">
            <a:avLst/>
          </a:prstGeom>
          <a:solidFill xmlns:a="http://schemas.openxmlformats.org/drawingml/2006/main">
            <a:srgbClr val="D55E00"/>
          </a:solidFill>
          <a:ln xmlns:a="http://schemas.openxmlformats.org/drawingml/2006/main" w="0">
            <a:noFill/>
          </a:ln>
        </p:spPr>
      </p:sp>
      <p:sp>
        <p:nvSpPr>
          <p:cNvPr id="6" name="sues_to_university/legend/full/text">
            <a:extLst xmlns:a="http://schemas.openxmlformats.org/drawingml/2006/main">
              <a:ext uri="{FF2B5EF4-FFF2-40B4-BE49-F238E27FC236}">
                <a16:creationId xmlns:a16="http://schemas.microsoft.com/office/drawing/2014/main" id="{653C2842-DD04-4A61-B057-59DB6B5DF5CA}"/>
              </a:ext>
            </a:extLst>
          </p:cNvPr>
          <p:cNvSpPr>
            <a:spLocks xmlns:a="http://schemas.openxmlformats.org/drawingml/2006/main" noGrp="1"/>
          </p:cNvSpPr>
          <p:nvPr/>
        </p:nvSpPr>
        <p:spPr>
          <a:xfrm xmlns:a="http://schemas.openxmlformats.org/drawingml/2006/main">
            <a:off x="1181100" y="554228"/>
            <a:ext cx="173069"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800" b="0">
                <a:solidFill>
                  <a:srgbClr val="222222"/>
                </a:solidFill>
                <a:latin typeface="Arial"/>
                <a:ea typeface="Arial"/>
                <a:cs typeface="Arial"/>
              </a:defRPr>
            </a:pPr>
            <a:r>
              <a:rPr sz="800" b="0">
                <a:solidFill>
                  <a:srgbClr val="222222"/>
                </a:solidFill>
                <a:latin typeface="Arial"/>
                <a:ea typeface="Arial"/>
                <a:cs typeface="Arial"/>
              </a:rPr>
              <a:t>Full</a:t>
            </a:r>
          </a:p>
        </p:txBody>
      </p:sp>
      <p:sp>
        <p:nvSpPr>
          <p:cNvPr id="7" name="sues_to_university/statistical-summary">
            <a:extLst xmlns:a="http://schemas.openxmlformats.org/drawingml/2006/main">
              <a:ext uri="{FF2B5EF4-FFF2-40B4-BE49-F238E27FC236}">
                <a16:creationId xmlns:a16="http://schemas.microsoft.com/office/drawing/2014/main" id="{D3355E15-82ED-4C2C-9A82-9898E2486162}"/>
              </a:ext>
            </a:extLst>
          </p:cNvPr>
          <p:cNvSpPr>
            <a:spLocks xmlns:a="http://schemas.openxmlformats.org/drawingml/2006/main" noGrp="1"/>
          </p:cNvSpPr>
          <p:nvPr/>
        </p:nvSpPr>
        <p:spPr>
          <a:xfrm xmlns:a="http://schemas.openxmlformats.org/drawingml/2006/main">
            <a:off x="1943100" y="554228"/>
            <a:ext cx="1509522"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800" b="0">
                <a:solidFill>
                  <a:srgbClr val="222222"/>
                </a:solidFill>
                <a:latin typeface="Arial"/>
                <a:ea typeface="Arial"/>
                <a:cs typeface="Arial"/>
              </a:defRPr>
            </a:pPr>
            <a:r>
              <a:rPr sz="800" b="0">
                <a:solidFill>
                  <a:srgbClr val="222222"/>
                </a:solidFill>
                <a:latin typeface="Arial"/>
                <a:ea typeface="Arial"/>
                <a:cs typeface="Arial"/>
              </a:rPr>
              <a:t>Mean ± sample SD; seeds 1, 2, 3</a:t>
            </a:r>
          </a:p>
        </p:txBody>
      </p:sp>
      <p:sp>
        <p:nvSpPr>
          <p:cNvPr id="8" name="sues_to_university/task-header">
            <a:extLst xmlns:a="http://schemas.openxmlformats.org/drawingml/2006/main">
              <a:ext uri="{FF2B5EF4-FFF2-40B4-BE49-F238E27FC236}">
                <a16:creationId xmlns:a16="http://schemas.microsoft.com/office/drawing/2014/main" id="{3F2C8743-4756-4EA3-BD48-373EDA24AF30}"/>
              </a:ext>
            </a:extLst>
          </p:cNvPr>
          <p:cNvSpPr>
            <a:spLocks xmlns:a="http://schemas.openxmlformats.org/drawingml/2006/main" noGrp="1"/>
          </p:cNvSpPr>
          <p:nvPr/>
        </p:nvSpPr>
        <p:spPr>
          <a:xfrm xmlns:a="http://schemas.openxmlformats.org/drawingml/2006/main">
            <a:off x="190500" y="909828"/>
            <a:ext cx="735425"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800" b="1">
                <a:solidFill>
                  <a:srgbClr val="222222"/>
                </a:solidFill>
                <a:latin typeface="Arial"/>
                <a:ea typeface="Arial"/>
                <a:cs typeface="Arial"/>
              </a:defRPr>
            </a:pPr>
            <a:r>
              <a:rPr sz="800" b="1">
                <a:solidFill>
                  <a:srgbClr val="222222"/>
                </a:solidFill>
                <a:latin typeface="Arial"/>
                <a:ea typeface="Arial"/>
                <a:cs typeface="Arial"/>
              </a:rPr>
              <a:t>Target retrieval</a:t>
            </a:r>
          </a:p>
        </p:txBody>
      </p:sp>
      <p:sp>
        <p:nvSpPr>
          <p:cNvPr id="9" name="sues_to_university/task-header-second">
            <a:extLst xmlns:a="http://schemas.openxmlformats.org/drawingml/2006/main">
              <a:ext uri="{FF2B5EF4-FFF2-40B4-BE49-F238E27FC236}">
                <a16:creationId xmlns:a16="http://schemas.microsoft.com/office/drawing/2014/main" id="{F33690E5-8D73-43F3-B897-1EC6C08AC976}"/>
              </a:ext>
            </a:extLst>
          </p:cNvPr>
          <p:cNvSpPr>
            <a:spLocks xmlns:a="http://schemas.openxmlformats.org/drawingml/2006/main" noGrp="1"/>
          </p:cNvSpPr>
          <p:nvPr/>
        </p:nvSpPr>
        <p:spPr>
          <a:xfrm xmlns:a="http://schemas.openxmlformats.org/drawingml/2006/main">
            <a:off x="190500" y="1049528"/>
            <a:ext cx="601694"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800" b="1">
                <a:solidFill>
                  <a:srgbClr val="222222"/>
                </a:solidFill>
                <a:latin typeface="Arial"/>
                <a:ea typeface="Arial"/>
                <a:cs typeface="Arial"/>
              </a:defRPr>
            </a:pPr>
            <a:r>
              <a:rPr sz="800" b="1">
                <a:solidFill>
                  <a:srgbClr val="222222"/>
                </a:solidFill>
                <a:latin typeface="Arial"/>
                <a:ea typeface="Arial"/>
                <a:cs typeface="Arial"/>
              </a:rPr>
              <a:t>task / height</a:t>
            </a:r>
          </a:p>
        </p:txBody>
      </p:sp>
      <p:sp>
        <p:nvSpPr>
          <p:cNvPr id="10" name="sues_to_university/r_at_1/heading">
            <a:extLst xmlns:a="http://schemas.openxmlformats.org/drawingml/2006/main">
              <a:ext uri="{FF2B5EF4-FFF2-40B4-BE49-F238E27FC236}">
                <a16:creationId xmlns:a16="http://schemas.microsoft.com/office/drawing/2014/main" id="{7BEA2EBD-96C3-46E7-8C05-AD71FAF92C40}"/>
              </a:ext>
            </a:extLst>
          </p:cNvPr>
          <p:cNvSpPr>
            <a:spLocks xmlns:a="http://schemas.openxmlformats.org/drawingml/2006/main" noGrp="1"/>
          </p:cNvSpPr>
          <p:nvPr/>
        </p:nvSpPr>
        <p:spPr>
          <a:xfrm xmlns:a="http://schemas.openxmlformats.org/drawingml/2006/main">
            <a:off x="1996884" y="898144"/>
            <a:ext cx="476631" cy="142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900" b="1">
                <a:solidFill>
                  <a:srgbClr val="222222"/>
                </a:solidFill>
                <a:latin typeface="Arial"/>
                <a:ea typeface="Arial"/>
                <a:cs typeface="Arial"/>
              </a:defRPr>
            </a:pPr>
            <a:r>
              <a:rPr sz="900" b="1">
                <a:solidFill>
                  <a:srgbClr val="222222"/>
                </a:solidFill>
                <a:latin typeface="Arial"/>
                <a:ea typeface="Arial"/>
                <a:cs typeface="Arial"/>
              </a:rPr>
              <a:t>R@1 (%)</a:t>
            </a:r>
          </a:p>
        </p:txBody>
      </p:sp>
      <p:sp>
        <p:nvSpPr>
          <p:cNvPr id="11" name="sues_to_university/r_at_1/grid/0">
            <a:extLst xmlns:a="http://schemas.openxmlformats.org/drawingml/2006/main">
              <a:ext uri="{FF2B5EF4-FFF2-40B4-BE49-F238E27FC236}">
                <a16:creationId xmlns:a16="http://schemas.microsoft.com/office/drawing/2014/main" id="{A41FBDF3-1740-437E-9A6A-D64AA2696824}"/>
              </a:ext>
            </a:extLst>
          </p:cNvPr>
          <p:cNvSpPr>
            <a:spLocks xmlns:a="http://schemas.openxmlformats.org/drawingml/2006/main" noGrp="1"/>
          </p:cNvSpPr>
          <p:nvPr/>
        </p:nvSpPr>
        <p:spPr>
          <a:xfrm xmlns:a="http://schemas.openxmlformats.org/drawingml/2006/main" flipV="0">
            <a:off x="1498600" y="1320800"/>
            <a:ext cx="0" cy="1866900"/>
          </a:xfrm>
          <a:prstGeom xmlns:a="http://schemas.openxmlformats.org/drawingml/2006/main" prst="line">
            <a:avLst/>
          </a:prstGeom>
          <a:noFill xmlns:a="http://schemas.openxmlformats.org/drawingml/2006/main"/>
          <a:ln xmlns:a="http://schemas.openxmlformats.org/drawingml/2006/main" w="5080">
            <a:solidFill>
              <a:srgbClr val="E4E8ED"/>
            </a:solidFill>
          </a:ln>
        </p:spPr>
      </p:sp>
      <p:sp>
        <p:nvSpPr>
          <p:cNvPr id="12" name="sues_to_university/r_at_1/tick/0">
            <a:extLst xmlns:a="http://schemas.openxmlformats.org/drawingml/2006/main">
              <a:ext uri="{FF2B5EF4-FFF2-40B4-BE49-F238E27FC236}">
                <a16:creationId xmlns:a16="http://schemas.microsoft.com/office/drawing/2014/main" id="{CEB40439-23F3-44BF-99E3-1DA4DD4D6531}"/>
              </a:ext>
            </a:extLst>
          </p:cNvPr>
          <p:cNvSpPr>
            <a:spLocks xmlns:a="http://schemas.openxmlformats.org/drawingml/2006/main" noGrp="1"/>
          </p:cNvSpPr>
          <p:nvPr/>
        </p:nvSpPr>
        <p:spPr>
          <a:xfrm xmlns:a="http://schemas.openxmlformats.org/drawingml/2006/main" flipV="0">
            <a:off x="1498600" y="1295400"/>
            <a:ext cx="0" cy="25400"/>
          </a:xfrm>
          <a:prstGeom xmlns:a="http://schemas.openxmlformats.org/drawingml/2006/main" prst="line">
            <a:avLst/>
          </a:prstGeom>
          <a:noFill xmlns:a="http://schemas.openxmlformats.org/drawingml/2006/main"/>
          <a:ln xmlns:a="http://schemas.openxmlformats.org/drawingml/2006/main" w="7620">
            <a:solidFill>
              <a:srgbClr val="444444"/>
            </a:solidFill>
          </a:ln>
        </p:spPr>
      </p:sp>
      <p:sp>
        <p:nvSpPr>
          <p:cNvPr id="13" name="sues_to_university/r_at_1/tick-label/0">
            <a:extLst xmlns:a="http://schemas.openxmlformats.org/drawingml/2006/main">
              <a:ext uri="{FF2B5EF4-FFF2-40B4-BE49-F238E27FC236}">
                <a16:creationId xmlns:a16="http://schemas.microsoft.com/office/drawing/2014/main" id="{BE6F8120-D2B6-49F1-A1F0-F56EA2E5BAE9}"/>
              </a:ext>
            </a:extLst>
          </p:cNvPr>
          <p:cNvSpPr>
            <a:spLocks xmlns:a="http://schemas.openxmlformats.org/drawingml/2006/main" noGrp="1"/>
          </p:cNvSpPr>
          <p:nvPr/>
        </p:nvSpPr>
        <p:spPr>
          <a:xfrm xmlns:a="http://schemas.openxmlformats.org/drawingml/2006/main">
            <a:off x="1465596" y="11892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0</a:t>
            </a:r>
          </a:p>
        </p:txBody>
      </p:sp>
      <p:sp>
        <p:nvSpPr>
          <p:cNvPr id="14" name="sues_to_university/r_at_1/grid/10">
            <a:extLst xmlns:a="http://schemas.openxmlformats.org/drawingml/2006/main">
              <a:ext uri="{FF2B5EF4-FFF2-40B4-BE49-F238E27FC236}">
                <a16:creationId xmlns:a16="http://schemas.microsoft.com/office/drawing/2014/main" id="{10C6EE42-B25B-4226-8EC9-84B0049ECD5C}"/>
              </a:ext>
            </a:extLst>
          </p:cNvPr>
          <p:cNvSpPr>
            <a:spLocks xmlns:a="http://schemas.openxmlformats.org/drawingml/2006/main" noGrp="1"/>
          </p:cNvSpPr>
          <p:nvPr/>
        </p:nvSpPr>
        <p:spPr>
          <a:xfrm xmlns:a="http://schemas.openxmlformats.org/drawingml/2006/main" flipV="0">
            <a:off x="1989667" y="1320800"/>
            <a:ext cx="0" cy="1866900"/>
          </a:xfrm>
          <a:prstGeom xmlns:a="http://schemas.openxmlformats.org/drawingml/2006/main" prst="line">
            <a:avLst/>
          </a:prstGeom>
          <a:noFill xmlns:a="http://schemas.openxmlformats.org/drawingml/2006/main"/>
          <a:ln xmlns:a="http://schemas.openxmlformats.org/drawingml/2006/main" w="5080">
            <a:solidFill>
              <a:srgbClr val="E4E8ED"/>
            </a:solidFill>
          </a:ln>
        </p:spPr>
      </p:sp>
      <p:sp>
        <p:nvSpPr>
          <p:cNvPr id="15" name="sues_to_university/r_at_1/tick/10">
            <a:extLst xmlns:a="http://schemas.openxmlformats.org/drawingml/2006/main">
              <a:ext uri="{FF2B5EF4-FFF2-40B4-BE49-F238E27FC236}">
                <a16:creationId xmlns:a16="http://schemas.microsoft.com/office/drawing/2014/main" id="{9A502E0E-A430-466D-B8DF-E6A08BA1002D}"/>
              </a:ext>
            </a:extLst>
          </p:cNvPr>
          <p:cNvSpPr>
            <a:spLocks xmlns:a="http://schemas.openxmlformats.org/drawingml/2006/main" noGrp="1"/>
          </p:cNvSpPr>
          <p:nvPr/>
        </p:nvSpPr>
        <p:spPr>
          <a:xfrm xmlns:a="http://schemas.openxmlformats.org/drawingml/2006/main" flipV="0">
            <a:off x="1989667" y="1295400"/>
            <a:ext cx="0" cy="25400"/>
          </a:xfrm>
          <a:prstGeom xmlns:a="http://schemas.openxmlformats.org/drawingml/2006/main" prst="line">
            <a:avLst/>
          </a:prstGeom>
          <a:noFill xmlns:a="http://schemas.openxmlformats.org/drawingml/2006/main"/>
          <a:ln xmlns:a="http://schemas.openxmlformats.org/drawingml/2006/main" w="7620">
            <a:solidFill>
              <a:srgbClr val="444444"/>
            </a:solidFill>
          </a:ln>
        </p:spPr>
      </p:sp>
      <p:sp>
        <p:nvSpPr>
          <p:cNvPr id="16" name="sues_to_university/r_at_1/tick-label/10">
            <a:extLst xmlns:a="http://schemas.openxmlformats.org/drawingml/2006/main">
              <a:ext uri="{FF2B5EF4-FFF2-40B4-BE49-F238E27FC236}">
                <a16:creationId xmlns:a16="http://schemas.microsoft.com/office/drawing/2014/main" id="{D7C0E241-9A04-413E-A0EE-7A3DECC0EADE}"/>
              </a:ext>
            </a:extLst>
          </p:cNvPr>
          <p:cNvSpPr>
            <a:spLocks xmlns:a="http://schemas.openxmlformats.org/drawingml/2006/main" noGrp="1"/>
          </p:cNvSpPr>
          <p:nvPr/>
        </p:nvSpPr>
        <p:spPr>
          <a:xfrm xmlns:a="http://schemas.openxmlformats.org/drawingml/2006/main">
            <a:off x="1928469" y="1189228"/>
            <a:ext cx="12239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10</a:t>
            </a:r>
          </a:p>
        </p:txBody>
      </p:sp>
      <p:sp>
        <p:nvSpPr>
          <p:cNvPr id="17" name="sues_to_university/r_at_1/grid/20">
            <a:extLst xmlns:a="http://schemas.openxmlformats.org/drawingml/2006/main">
              <a:ext uri="{FF2B5EF4-FFF2-40B4-BE49-F238E27FC236}">
                <a16:creationId xmlns:a16="http://schemas.microsoft.com/office/drawing/2014/main" id="{03F36698-D7EF-48D5-A52A-42444C3E2E76}"/>
              </a:ext>
            </a:extLst>
          </p:cNvPr>
          <p:cNvSpPr>
            <a:spLocks xmlns:a="http://schemas.openxmlformats.org/drawingml/2006/main" noGrp="1"/>
          </p:cNvSpPr>
          <p:nvPr/>
        </p:nvSpPr>
        <p:spPr>
          <a:xfrm xmlns:a="http://schemas.openxmlformats.org/drawingml/2006/main" flipV="0">
            <a:off x="2480733" y="1320800"/>
            <a:ext cx="0" cy="1866900"/>
          </a:xfrm>
          <a:prstGeom xmlns:a="http://schemas.openxmlformats.org/drawingml/2006/main" prst="line">
            <a:avLst/>
          </a:prstGeom>
          <a:noFill xmlns:a="http://schemas.openxmlformats.org/drawingml/2006/main"/>
          <a:ln xmlns:a="http://schemas.openxmlformats.org/drawingml/2006/main" w="5080">
            <a:solidFill>
              <a:srgbClr val="E4E8ED"/>
            </a:solidFill>
          </a:ln>
        </p:spPr>
      </p:sp>
      <p:sp>
        <p:nvSpPr>
          <p:cNvPr id="18" name="sues_to_university/r_at_1/tick/20">
            <a:extLst xmlns:a="http://schemas.openxmlformats.org/drawingml/2006/main">
              <a:ext uri="{FF2B5EF4-FFF2-40B4-BE49-F238E27FC236}">
                <a16:creationId xmlns:a16="http://schemas.microsoft.com/office/drawing/2014/main" id="{FA6411BA-BEDA-4E9D-B030-18738FC7C7B9}"/>
              </a:ext>
            </a:extLst>
          </p:cNvPr>
          <p:cNvSpPr>
            <a:spLocks xmlns:a="http://schemas.openxmlformats.org/drawingml/2006/main" noGrp="1"/>
          </p:cNvSpPr>
          <p:nvPr/>
        </p:nvSpPr>
        <p:spPr>
          <a:xfrm xmlns:a="http://schemas.openxmlformats.org/drawingml/2006/main" flipV="0">
            <a:off x="2480733" y="1295400"/>
            <a:ext cx="0" cy="25400"/>
          </a:xfrm>
          <a:prstGeom xmlns:a="http://schemas.openxmlformats.org/drawingml/2006/main" prst="line">
            <a:avLst/>
          </a:prstGeom>
          <a:noFill xmlns:a="http://schemas.openxmlformats.org/drawingml/2006/main"/>
          <a:ln xmlns:a="http://schemas.openxmlformats.org/drawingml/2006/main" w="7620">
            <a:solidFill>
              <a:srgbClr val="444444"/>
            </a:solidFill>
          </a:ln>
        </p:spPr>
      </p:sp>
      <p:sp>
        <p:nvSpPr>
          <p:cNvPr id="19" name="sues_to_university/r_at_1/tick-label/20">
            <a:extLst xmlns:a="http://schemas.openxmlformats.org/drawingml/2006/main">
              <a:ext uri="{FF2B5EF4-FFF2-40B4-BE49-F238E27FC236}">
                <a16:creationId xmlns:a16="http://schemas.microsoft.com/office/drawing/2014/main" id="{44145D22-97E0-46FA-BCC3-3DCB6ED3BC5A}"/>
              </a:ext>
            </a:extLst>
          </p:cNvPr>
          <p:cNvSpPr>
            <a:spLocks xmlns:a="http://schemas.openxmlformats.org/drawingml/2006/main" noGrp="1"/>
          </p:cNvSpPr>
          <p:nvPr/>
        </p:nvSpPr>
        <p:spPr>
          <a:xfrm xmlns:a="http://schemas.openxmlformats.org/drawingml/2006/main">
            <a:off x="2419535" y="1189228"/>
            <a:ext cx="12239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20</a:t>
            </a:r>
          </a:p>
        </p:txBody>
      </p:sp>
      <p:sp>
        <p:nvSpPr>
          <p:cNvPr id="20" name="sues_to_university/r_at_1/grid/30">
            <a:extLst xmlns:a="http://schemas.openxmlformats.org/drawingml/2006/main">
              <a:ext uri="{FF2B5EF4-FFF2-40B4-BE49-F238E27FC236}">
                <a16:creationId xmlns:a16="http://schemas.microsoft.com/office/drawing/2014/main" id="{12722F43-B2D8-4AED-8E84-090BAEAB1674}"/>
              </a:ext>
            </a:extLst>
          </p:cNvPr>
          <p:cNvSpPr>
            <a:spLocks xmlns:a="http://schemas.openxmlformats.org/drawingml/2006/main" noGrp="1"/>
          </p:cNvSpPr>
          <p:nvPr/>
        </p:nvSpPr>
        <p:spPr>
          <a:xfrm xmlns:a="http://schemas.openxmlformats.org/drawingml/2006/main" flipV="0">
            <a:off x="2971800" y="1320800"/>
            <a:ext cx="0" cy="1866900"/>
          </a:xfrm>
          <a:prstGeom xmlns:a="http://schemas.openxmlformats.org/drawingml/2006/main" prst="line">
            <a:avLst/>
          </a:prstGeom>
          <a:noFill xmlns:a="http://schemas.openxmlformats.org/drawingml/2006/main"/>
          <a:ln xmlns:a="http://schemas.openxmlformats.org/drawingml/2006/main" w="5080">
            <a:solidFill>
              <a:srgbClr val="E4E8ED"/>
            </a:solidFill>
          </a:ln>
        </p:spPr>
      </p:sp>
      <p:sp>
        <p:nvSpPr>
          <p:cNvPr id="21" name="sues_to_university/r_at_1/tick/30">
            <a:extLst xmlns:a="http://schemas.openxmlformats.org/drawingml/2006/main">
              <a:ext uri="{FF2B5EF4-FFF2-40B4-BE49-F238E27FC236}">
                <a16:creationId xmlns:a16="http://schemas.microsoft.com/office/drawing/2014/main" id="{A24E6779-9914-4EEB-B6F5-CF10D2815CF2}"/>
              </a:ext>
            </a:extLst>
          </p:cNvPr>
          <p:cNvSpPr>
            <a:spLocks xmlns:a="http://schemas.openxmlformats.org/drawingml/2006/main" noGrp="1"/>
          </p:cNvSpPr>
          <p:nvPr/>
        </p:nvSpPr>
        <p:spPr>
          <a:xfrm xmlns:a="http://schemas.openxmlformats.org/drawingml/2006/main" flipV="0">
            <a:off x="2971800" y="1295400"/>
            <a:ext cx="0" cy="25400"/>
          </a:xfrm>
          <a:prstGeom xmlns:a="http://schemas.openxmlformats.org/drawingml/2006/main" prst="line">
            <a:avLst/>
          </a:prstGeom>
          <a:noFill xmlns:a="http://schemas.openxmlformats.org/drawingml/2006/main"/>
          <a:ln xmlns:a="http://schemas.openxmlformats.org/drawingml/2006/main" w="7620">
            <a:solidFill>
              <a:srgbClr val="444444"/>
            </a:solidFill>
          </a:ln>
        </p:spPr>
      </p:sp>
      <p:sp>
        <p:nvSpPr>
          <p:cNvPr id="22" name="sues_to_university/r_at_1/tick-label/30">
            <a:extLst xmlns:a="http://schemas.openxmlformats.org/drawingml/2006/main">
              <a:ext uri="{FF2B5EF4-FFF2-40B4-BE49-F238E27FC236}">
                <a16:creationId xmlns:a16="http://schemas.microsoft.com/office/drawing/2014/main" id="{981DE6FF-EF1A-4BBD-9C17-BD307F7D94C9}"/>
              </a:ext>
            </a:extLst>
          </p:cNvPr>
          <p:cNvSpPr>
            <a:spLocks xmlns:a="http://schemas.openxmlformats.org/drawingml/2006/main" noGrp="1"/>
          </p:cNvSpPr>
          <p:nvPr/>
        </p:nvSpPr>
        <p:spPr>
          <a:xfrm xmlns:a="http://schemas.openxmlformats.org/drawingml/2006/main">
            <a:off x="2910602" y="1189228"/>
            <a:ext cx="12239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30</a:t>
            </a:r>
          </a:p>
        </p:txBody>
      </p:sp>
      <p:sp>
        <p:nvSpPr>
          <p:cNvPr id="23" name="sues_to_university/r_at_1/axis">
            <a:extLst xmlns:a="http://schemas.openxmlformats.org/drawingml/2006/main">
              <a:ext uri="{FF2B5EF4-FFF2-40B4-BE49-F238E27FC236}">
                <a16:creationId xmlns:a16="http://schemas.microsoft.com/office/drawing/2014/main" id="{A3D83F4F-4DA6-43DF-89C4-8928735BAB4B}"/>
              </a:ext>
            </a:extLst>
          </p:cNvPr>
          <p:cNvSpPr>
            <a:spLocks xmlns:a="http://schemas.openxmlformats.org/drawingml/2006/main" noGrp="1"/>
          </p:cNvSpPr>
          <p:nvPr/>
        </p:nvSpPr>
        <p:spPr>
          <a:xfrm xmlns:a="http://schemas.openxmlformats.org/drawingml/2006/main" flipV="0">
            <a:off x="1498600" y="1320800"/>
            <a:ext cx="1473200" cy="0"/>
          </a:xfrm>
          <a:prstGeom xmlns:a="http://schemas.openxmlformats.org/drawingml/2006/main" prst="line">
            <a:avLst/>
          </a:prstGeom>
          <a:noFill xmlns:a="http://schemas.openxmlformats.org/drawingml/2006/main"/>
          <a:ln xmlns:a="http://schemas.openxmlformats.org/drawingml/2006/main" w="7620">
            <a:solidFill>
              <a:srgbClr val="444444"/>
            </a:solidFill>
          </a:ln>
        </p:spPr>
      </p:sp>
      <p:sp>
        <p:nvSpPr>
          <p:cNvPr id="24" name="sues_to_university/university1652_drone_to_satellite/visual/r_at_1/sd-line">
            <a:extLst xmlns:a="http://schemas.openxmlformats.org/drawingml/2006/main">
              <a:ext uri="{FF2B5EF4-FFF2-40B4-BE49-F238E27FC236}">
                <a16:creationId xmlns:a16="http://schemas.microsoft.com/office/drawing/2014/main" id="{39891A56-66C2-420B-A19E-8A30BEE7E874}"/>
              </a:ext>
            </a:extLst>
          </p:cNvPr>
          <p:cNvSpPr>
            <a:spLocks xmlns:a="http://schemas.openxmlformats.org/drawingml/2006/main" noGrp="1"/>
          </p:cNvSpPr>
          <p:nvPr/>
        </p:nvSpPr>
        <p:spPr>
          <a:xfrm xmlns:a="http://schemas.openxmlformats.org/drawingml/2006/main" flipV="0">
            <a:off x="2033435" y="1473200"/>
            <a:ext cx="11528" cy="0"/>
          </a:xfrm>
          <a:prstGeom xmlns:a="http://schemas.openxmlformats.org/drawingml/2006/main" prst="line">
            <a:avLst/>
          </a:prstGeom>
          <a:noFill xmlns:a="http://schemas.openxmlformats.org/drawingml/2006/main"/>
          <a:ln xmlns:a="http://schemas.openxmlformats.org/drawingml/2006/main" w="11430">
            <a:solidFill>
              <a:srgbClr val="0072B2"/>
            </a:solidFill>
          </a:ln>
        </p:spPr>
      </p:sp>
      <p:sp>
        <p:nvSpPr>
          <p:cNvPr id="25" name="sues_to_university/university1652_drone_to_satellite/visual/r_at_1/sd-cap-left">
            <a:extLst xmlns:a="http://schemas.openxmlformats.org/drawingml/2006/main">
              <a:ext uri="{FF2B5EF4-FFF2-40B4-BE49-F238E27FC236}">
                <a16:creationId xmlns:a16="http://schemas.microsoft.com/office/drawing/2014/main" id="{4240775A-957D-4C3D-BFB5-FBB14CC9AE0D}"/>
              </a:ext>
            </a:extLst>
          </p:cNvPr>
          <p:cNvSpPr>
            <a:spLocks xmlns:a="http://schemas.openxmlformats.org/drawingml/2006/main" noGrp="1"/>
          </p:cNvSpPr>
          <p:nvPr/>
        </p:nvSpPr>
        <p:spPr>
          <a:xfrm xmlns:a="http://schemas.openxmlformats.org/drawingml/2006/main" flipV="0">
            <a:off x="2033435" y="1446530"/>
            <a:ext cx="0" cy="53340"/>
          </a:xfrm>
          <a:prstGeom xmlns:a="http://schemas.openxmlformats.org/drawingml/2006/main" prst="line">
            <a:avLst/>
          </a:prstGeom>
          <a:noFill xmlns:a="http://schemas.openxmlformats.org/drawingml/2006/main"/>
          <a:ln xmlns:a="http://schemas.openxmlformats.org/drawingml/2006/main" w="10160">
            <a:solidFill>
              <a:srgbClr val="0072B2"/>
            </a:solidFill>
          </a:ln>
        </p:spPr>
      </p:sp>
      <p:sp>
        <p:nvSpPr>
          <p:cNvPr id="26" name="sues_to_university/university1652_drone_to_satellite/visual/r_at_1/sd-cap-right">
            <a:extLst xmlns:a="http://schemas.openxmlformats.org/drawingml/2006/main">
              <a:ext uri="{FF2B5EF4-FFF2-40B4-BE49-F238E27FC236}">
                <a16:creationId xmlns:a16="http://schemas.microsoft.com/office/drawing/2014/main" id="{05DAAA73-889C-49A2-AC8F-A20EB3FCF77E}"/>
              </a:ext>
            </a:extLst>
          </p:cNvPr>
          <p:cNvSpPr>
            <a:spLocks xmlns:a="http://schemas.openxmlformats.org/drawingml/2006/main" noGrp="1"/>
          </p:cNvSpPr>
          <p:nvPr/>
        </p:nvSpPr>
        <p:spPr>
          <a:xfrm xmlns:a="http://schemas.openxmlformats.org/drawingml/2006/main" flipV="0">
            <a:off x="2044963" y="1446530"/>
            <a:ext cx="0" cy="53340"/>
          </a:xfrm>
          <a:prstGeom xmlns:a="http://schemas.openxmlformats.org/drawingml/2006/main" prst="line">
            <a:avLst/>
          </a:prstGeom>
          <a:noFill xmlns:a="http://schemas.openxmlformats.org/drawingml/2006/main"/>
          <a:ln xmlns:a="http://schemas.openxmlformats.org/drawingml/2006/main" w="10160">
            <a:solidFill>
              <a:srgbClr val="0072B2"/>
            </a:solidFill>
          </a:ln>
        </p:spPr>
      </p:sp>
      <p:sp>
        <p:nvSpPr>
          <p:cNvPr id="27" name="sues_to_university/university1652_drone_to_satellite/visual/r_at_1/mean">
            <a:extLst xmlns:a="http://schemas.openxmlformats.org/drawingml/2006/main">
              <a:ext uri="{FF2B5EF4-FFF2-40B4-BE49-F238E27FC236}">
                <a16:creationId xmlns:a16="http://schemas.microsoft.com/office/drawing/2014/main" id="{BAC4C33D-AD9C-4B47-A728-41C2F10B53B0}"/>
              </a:ext>
            </a:extLst>
          </p:cNvPr>
          <p:cNvSpPr>
            <a:spLocks xmlns:a="http://schemas.openxmlformats.org/drawingml/2006/main" noGrp="1"/>
          </p:cNvSpPr>
          <p:nvPr/>
        </p:nvSpPr>
        <p:spPr>
          <a:xfrm xmlns:a="http://schemas.openxmlformats.org/drawingml/2006/main">
            <a:off x="2016339" y="1450340"/>
            <a:ext cx="45720" cy="45720"/>
          </a:xfrm>
          <a:prstGeom xmlns:a="http://schemas.openxmlformats.org/drawingml/2006/main" prst="ellipse">
            <a:avLst/>
          </a:prstGeom>
          <a:solidFill xmlns:a="http://schemas.openxmlformats.org/drawingml/2006/main">
            <a:srgbClr val="0072B2"/>
          </a:solidFill>
          <a:ln xmlns:a="http://schemas.openxmlformats.org/drawingml/2006/main" w="0">
            <a:noFill/>
          </a:ln>
        </p:spPr>
      </p:sp>
      <p:sp>
        <p:nvSpPr>
          <p:cNvPr id="28" name="sues_to_university/university1652_drone_to_satellite/visual/r_at_1/value">
            <a:extLst xmlns:a="http://schemas.openxmlformats.org/drawingml/2006/main">
              <a:ext uri="{FF2B5EF4-FFF2-40B4-BE49-F238E27FC236}">
                <a16:creationId xmlns:a16="http://schemas.microsoft.com/office/drawing/2014/main" id="{87091D20-E292-4D3E-8522-01C05D04B2C3}"/>
              </a:ext>
            </a:extLst>
          </p:cNvPr>
          <p:cNvSpPr>
            <a:spLocks xmlns:a="http://schemas.openxmlformats.org/drawingml/2006/main" noGrp="1"/>
          </p:cNvSpPr>
          <p:nvPr/>
        </p:nvSpPr>
        <p:spPr>
          <a:xfrm xmlns:a="http://schemas.openxmlformats.org/drawingml/2006/main">
            <a:off x="1899682" y="1519428"/>
            <a:ext cx="67103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0072B2"/>
                </a:solidFill>
                <a:latin typeface="Arial"/>
                <a:ea typeface="Arial"/>
                <a:cs typeface="Arial"/>
              </a:defRPr>
            </a:pPr>
            <a:r>
              <a:rPr sz="800" b="0">
                <a:solidFill>
                  <a:srgbClr val="0072B2"/>
                </a:solidFill>
                <a:latin typeface="Arial"/>
                <a:ea typeface="Arial"/>
                <a:cs typeface="Arial"/>
              </a:rPr>
              <a:t>11.009 ± 0.117</a:t>
            </a:r>
          </a:p>
        </p:txBody>
      </p:sp>
      <p:sp>
        <p:nvSpPr>
          <p:cNvPr id="29" name="sues_to_university/university1652_drone_to_satellite/full/r_at_1/sd-line">
            <a:extLst xmlns:a="http://schemas.openxmlformats.org/drawingml/2006/main">
              <a:ext uri="{FF2B5EF4-FFF2-40B4-BE49-F238E27FC236}">
                <a16:creationId xmlns:a16="http://schemas.microsoft.com/office/drawing/2014/main" id="{20CAA6BE-CF94-4B48-96FF-BAFAAAA917F9}"/>
              </a:ext>
            </a:extLst>
          </p:cNvPr>
          <p:cNvSpPr>
            <a:spLocks xmlns:a="http://schemas.openxmlformats.org/drawingml/2006/main" noGrp="1"/>
          </p:cNvSpPr>
          <p:nvPr/>
        </p:nvSpPr>
        <p:spPr>
          <a:xfrm xmlns:a="http://schemas.openxmlformats.org/drawingml/2006/main" flipV="0">
            <a:off x="1870261" y="1727200"/>
            <a:ext cx="59836" cy="0"/>
          </a:xfrm>
          <a:prstGeom xmlns:a="http://schemas.openxmlformats.org/drawingml/2006/main" prst="line">
            <a:avLst/>
          </a:prstGeom>
          <a:noFill xmlns:a="http://schemas.openxmlformats.org/drawingml/2006/main"/>
          <a:ln xmlns:a="http://schemas.openxmlformats.org/drawingml/2006/main" w="11430">
            <a:solidFill>
              <a:srgbClr val="D55E00"/>
            </a:solidFill>
          </a:ln>
        </p:spPr>
      </p:sp>
      <p:sp>
        <p:nvSpPr>
          <p:cNvPr id="30" name="sues_to_university/university1652_drone_to_satellite/full/r_at_1/sd-cap-left">
            <a:extLst xmlns:a="http://schemas.openxmlformats.org/drawingml/2006/main">
              <a:ext uri="{FF2B5EF4-FFF2-40B4-BE49-F238E27FC236}">
                <a16:creationId xmlns:a16="http://schemas.microsoft.com/office/drawing/2014/main" id="{F9F53DF0-7348-4CE1-98B5-8976267E3CAA}"/>
              </a:ext>
            </a:extLst>
          </p:cNvPr>
          <p:cNvSpPr>
            <a:spLocks xmlns:a="http://schemas.openxmlformats.org/drawingml/2006/main" noGrp="1"/>
          </p:cNvSpPr>
          <p:nvPr/>
        </p:nvSpPr>
        <p:spPr>
          <a:xfrm xmlns:a="http://schemas.openxmlformats.org/drawingml/2006/main" flipV="0">
            <a:off x="1870261" y="1700530"/>
            <a:ext cx="0" cy="53340"/>
          </a:xfrm>
          <a:prstGeom xmlns:a="http://schemas.openxmlformats.org/drawingml/2006/main" prst="line">
            <a:avLst/>
          </a:prstGeom>
          <a:noFill xmlns:a="http://schemas.openxmlformats.org/drawingml/2006/main"/>
          <a:ln xmlns:a="http://schemas.openxmlformats.org/drawingml/2006/main" w="10160">
            <a:solidFill>
              <a:srgbClr val="D55E00"/>
            </a:solidFill>
          </a:ln>
        </p:spPr>
      </p:sp>
      <p:sp>
        <p:nvSpPr>
          <p:cNvPr id="31" name="sues_to_university/university1652_drone_to_satellite/full/r_at_1/sd-cap-right">
            <a:extLst xmlns:a="http://schemas.openxmlformats.org/drawingml/2006/main">
              <a:ext uri="{FF2B5EF4-FFF2-40B4-BE49-F238E27FC236}">
                <a16:creationId xmlns:a16="http://schemas.microsoft.com/office/drawing/2014/main" id="{3DD59C28-57B0-4A89-8748-ED293F28EAC4}"/>
              </a:ext>
            </a:extLst>
          </p:cNvPr>
          <p:cNvSpPr>
            <a:spLocks xmlns:a="http://schemas.openxmlformats.org/drawingml/2006/main" noGrp="1"/>
          </p:cNvSpPr>
          <p:nvPr/>
        </p:nvSpPr>
        <p:spPr>
          <a:xfrm xmlns:a="http://schemas.openxmlformats.org/drawingml/2006/main" flipV="0">
            <a:off x="1930097" y="1700530"/>
            <a:ext cx="0" cy="53340"/>
          </a:xfrm>
          <a:prstGeom xmlns:a="http://schemas.openxmlformats.org/drawingml/2006/main" prst="line">
            <a:avLst/>
          </a:prstGeom>
          <a:noFill xmlns:a="http://schemas.openxmlformats.org/drawingml/2006/main"/>
          <a:ln xmlns:a="http://schemas.openxmlformats.org/drawingml/2006/main" w="10160">
            <a:solidFill>
              <a:srgbClr val="D55E00"/>
            </a:solidFill>
          </a:ln>
        </p:spPr>
      </p:sp>
      <p:sp>
        <p:nvSpPr>
          <p:cNvPr id="32" name="sues_to_university/university1652_drone_to_satellite/full/r_at_1/mean">
            <a:extLst xmlns:a="http://schemas.openxmlformats.org/drawingml/2006/main">
              <a:ext uri="{FF2B5EF4-FFF2-40B4-BE49-F238E27FC236}">
                <a16:creationId xmlns:a16="http://schemas.microsoft.com/office/drawing/2014/main" id="{76CD3347-EC98-459C-8DDB-F57284E34C37}"/>
              </a:ext>
            </a:extLst>
          </p:cNvPr>
          <p:cNvSpPr>
            <a:spLocks xmlns:a="http://schemas.openxmlformats.org/drawingml/2006/main" noGrp="1"/>
          </p:cNvSpPr>
          <p:nvPr/>
        </p:nvSpPr>
        <p:spPr>
          <a:xfrm xmlns:a="http://schemas.openxmlformats.org/drawingml/2006/main">
            <a:off x="1877319" y="1704340"/>
            <a:ext cx="45720" cy="45720"/>
          </a:xfrm>
          <a:prstGeom xmlns:a="http://schemas.openxmlformats.org/drawingml/2006/main" prst="rect">
            <a:avLst/>
          </a:prstGeom>
          <a:solidFill xmlns:a="http://schemas.openxmlformats.org/drawingml/2006/main">
            <a:srgbClr val="D55E00"/>
          </a:solidFill>
          <a:ln xmlns:a="http://schemas.openxmlformats.org/drawingml/2006/main" w="0">
            <a:noFill/>
          </a:ln>
        </p:spPr>
      </p:sp>
      <p:sp>
        <p:nvSpPr>
          <p:cNvPr id="33" name="sues_to_university/university1652_drone_to_satellite/full/r_at_1/value">
            <a:extLst xmlns:a="http://schemas.openxmlformats.org/drawingml/2006/main">
              <a:ext uri="{FF2B5EF4-FFF2-40B4-BE49-F238E27FC236}">
                <a16:creationId xmlns:a16="http://schemas.microsoft.com/office/drawing/2014/main" id="{3501145F-B353-4B72-AF3A-59085EF0AC86}"/>
              </a:ext>
            </a:extLst>
          </p:cNvPr>
          <p:cNvSpPr>
            <a:spLocks xmlns:a="http://schemas.openxmlformats.org/drawingml/2006/main" noGrp="1"/>
          </p:cNvSpPr>
          <p:nvPr/>
        </p:nvSpPr>
        <p:spPr>
          <a:xfrm xmlns:a="http://schemas.openxmlformats.org/drawingml/2006/main">
            <a:off x="1920399" y="1773428"/>
            <a:ext cx="629602"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D55E00"/>
                </a:solidFill>
                <a:latin typeface="Arial"/>
                <a:ea typeface="Arial"/>
                <a:cs typeface="Arial"/>
              </a:defRPr>
            </a:pPr>
            <a:r>
              <a:rPr sz="800" b="0">
                <a:solidFill>
                  <a:srgbClr val="D55E00"/>
                </a:solidFill>
                <a:latin typeface="Arial"/>
                <a:ea typeface="Arial"/>
                <a:cs typeface="Arial"/>
              </a:rPr>
              <a:t>8.178 ± 0.609</a:t>
            </a:r>
          </a:p>
        </p:txBody>
      </p:sp>
      <p:sp>
        <p:nvSpPr>
          <p:cNvPr id="34" name="sues_to_university/university1652_satellite_to_drone/visual/r_at_1/sd-line">
            <a:extLst xmlns:a="http://schemas.openxmlformats.org/drawingml/2006/main">
              <a:ext uri="{FF2B5EF4-FFF2-40B4-BE49-F238E27FC236}">
                <a16:creationId xmlns:a16="http://schemas.microsoft.com/office/drawing/2014/main" id="{E5C8A20B-DC80-43CE-B40E-FE1E5F658289}"/>
              </a:ext>
            </a:extLst>
          </p:cNvPr>
          <p:cNvSpPr>
            <a:spLocks xmlns:a="http://schemas.openxmlformats.org/drawingml/2006/main" noGrp="1"/>
          </p:cNvSpPr>
          <p:nvPr/>
        </p:nvSpPr>
        <p:spPr>
          <a:xfrm xmlns:a="http://schemas.openxmlformats.org/drawingml/2006/main" flipV="0">
            <a:off x="2673460" y="2057400"/>
            <a:ext cx="172163" cy="0"/>
          </a:xfrm>
          <a:prstGeom xmlns:a="http://schemas.openxmlformats.org/drawingml/2006/main" prst="line">
            <a:avLst/>
          </a:prstGeom>
          <a:noFill xmlns:a="http://schemas.openxmlformats.org/drawingml/2006/main"/>
          <a:ln xmlns:a="http://schemas.openxmlformats.org/drawingml/2006/main" w="11430">
            <a:solidFill>
              <a:srgbClr val="0072B2"/>
            </a:solidFill>
          </a:ln>
        </p:spPr>
      </p:sp>
      <p:sp>
        <p:nvSpPr>
          <p:cNvPr id="35" name="sues_to_university/university1652_satellite_to_drone/visual/r_at_1/sd-cap-left">
            <a:extLst xmlns:a="http://schemas.openxmlformats.org/drawingml/2006/main">
              <a:ext uri="{FF2B5EF4-FFF2-40B4-BE49-F238E27FC236}">
                <a16:creationId xmlns:a16="http://schemas.microsoft.com/office/drawing/2014/main" id="{DAE73653-AE0C-481B-8168-9A8586682F1C}"/>
              </a:ext>
            </a:extLst>
          </p:cNvPr>
          <p:cNvSpPr>
            <a:spLocks xmlns:a="http://schemas.openxmlformats.org/drawingml/2006/main" noGrp="1"/>
          </p:cNvSpPr>
          <p:nvPr/>
        </p:nvSpPr>
        <p:spPr>
          <a:xfrm xmlns:a="http://schemas.openxmlformats.org/drawingml/2006/main" flipV="0">
            <a:off x="2673460" y="2030730"/>
            <a:ext cx="0" cy="53340"/>
          </a:xfrm>
          <a:prstGeom xmlns:a="http://schemas.openxmlformats.org/drawingml/2006/main" prst="line">
            <a:avLst/>
          </a:prstGeom>
          <a:noFill xmlns:a="http://schemas.openxmlformats.org/drawingml/2006/main"/>
          <a:ln xmlns:a="http://schemas.openxmlformats.org/drawingml/2006/main" w="10160">
            <a:solidFill>
              <a:srgbClr val="0072B2"/>
            </a:solidFill>
          </a:ln>
        </p:spPr>
      </p:sp>
      <p:sp>
        <p:nvSpPr>
          <p:cNvPr id="36" name="sues_to_university/university1652_satellite_to_drone/visual/r_at_1/sd-cap-right">
            <a:extLst xmlns:a="http://schemas.openxmlformats.org/drawingml/2006/main">
              <a:ext uri="{FF2B5EF4-FFF2-40B4-BE49-F238E27FC236}">
                <a16:creationId xmlns:a16="http://schemas.microsoft.com/office/drawing/2014/main" id="{8852640C-AAE7-495B-B1DE-7FF5DB42A6D0}"/>
              </a:ext>
            </a:extLst>
          </p:cNvPr>
          <p:cNvSpPr>
            <a:spLocks xmlns:a="http://schemas.openxmlformats.org/drawingml/2006/main" noGrp="1"/>
          </p:cNvSpPr>
          <p:nvPr/>
        </p:nvSpPr>
        <p:spPr>
          <a:xfrm xmlns:a="http://schemas.openxmlformats.org/drawingml/2006/main" flipV="0">
            <a:off x="2845623" y="2030730"/>
            <a:ext cx="0" cy="53340"/>
          </a:xfrm>
          <a:prstGeom xmlns:a="http://schemas.openxmlformats.org/drawingml/2006/main" prst="line">
            <a:avLst/>
          </a:prstGeom>
          <a:noFill xmlns:a="http://schemas.openxmlformats.org/drawingml/2006/main"/>
          <a:ln xmlns:a="http://schemas.openxmlformats.org/drawingml/2006/main" w="10160">
            <a:solidFill>
              <a:srgbClr val="0072B2"/>
            </a:solidFill>
          </a:ln>
        </p:spPr>
      </p:sp>
      <p:sp>
        <p:nvSpPr>
          <p:cNvPr id="37" name="sues_to_university/university1652_satellite_to_drone/visual/r_at_1/mean">
            <a:extLst xmlns:a="http://schemas.openxmlformats.org/drawingml/2006/main">
              <a:ext uri="{FF2B5EF4-FFF2-40B4-BE49-F238E27FC236}">
                <a16:creationId xmlns:a16="http://schemas.microsoft.com/office/drawing/2014/main" id="{CFAF6FED-19D9-49F3-9A14-CB84CCF80A8E}"/>
              </a:ext>
            </a:extLst>
          </p:cNvPr>
          <p:cNvSpPr>
            <a:spLocks xmlns:a="http://schemas.openxmlformats.org/drawingml/2006/main" noGrp="1"/>
          </p:cNvSpPr>
          <p:nvPr/>
        </p:nvSpPr>
        <p:spPr>
          <a:xfrm xmlns:a="http://schemas.openxmlformats.org/drawingml/2006/main">
            <a:off x="2736682" y="2034540"/>
            <a:ext cx="45720" cy="45720"/>
          </a:xfrm>
          <a:prstGeom xmlns:a="http://schemas.openxmlformats.org/drawingml/2006/main" prst="ellipse">
            <a:avLst/>
          </a:prstGeom>
          <a:solidFill xmlns:a="http://schemas.openxmlformats.org/drawingml/2006/main">
            <a:srgbClr val="0072B2"/>
          </a:solidFill>
          <a:ln xmlns:a="http://schemas.openxmlformats.org/drawingml/2006/main" w="0">
            <a:noFill/>
          </a:ln>
        </p:spPr>
      </p:sp>
      <p:sp>
        <p:nvSpPr>
          <p:cNvPr id="38" name="sues_to_university/university1652_satellite_to_drone/visual/r_at_1/value">
            <a:extLst xmlns:a="http://schemas.openxmlformats.org/drawingml/2006/main">
              <a:ext uri="{FF2B5EF4-FFF2-40B4-BE49-F238E27FC236}">
                <a16:creationId xmlns:a16="http://schemas.microsoft.com/office/drawing/2014/main" id="{F83D6521-D73D-484D-BAB9-CCC01874C164}"/>
              </a:ext>
            </a:extLst>
          </p:cNvPr>
          <p:cNvSpPr>
            <a:spLocks xmlns:a="http://schemas.openxmlformats.org/drawingml/2006/main" noGrp="1"/>
          </p:cNvSpPr>
          <p:nvPr/>
        </p:nvSpPr>
        <p:spPr>
          <a:xfrm xmlns:a="http://schemas.openxmlformats.org/drawingml/2006/main">
            <a:off x="1892157" y="2103628"/>
            <a:ext cx="68608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0072B2"/>
                </a:solidFill>
                <a:latin typeface="Arial"/>
                <a:ea typeface="Arial"/>
                <a:cs typeface="Arial"/>
              </a:defRPr>
            </a:pPr>
            <a:r>
              <a:rPr sz="800" b="0">
                <a:solidFill>
                  <a:srgbClr val="0072B2"/>
                </a:solidFill>
                <a:latin typeface="Arial"/>
                <a:ea typeface="Arial"/>
                <a:cs typeface="Arial"/>
              </a:rPr>
              <a:t>25.678 ± 1.753</a:t>
            </a:r>
          </a:p>
        </p:txBody>
      </p:sp>
      <p:sp>
        <p:nvSpPr>
          <p:cNvPr id="39" name="sues_to_university/university1652_satellite_to_drone/full/r_at_1/sd-line">
            <a:extLst xmlns:a="http://schemas.openxmlformats.org/drawingml/2006/main">
              <a:ext uri="{FF2B5EF4-FFF2-40B4-BE49-F238E27FC236}">
                <a16:creationId xmlns:a16="http://schemas.microsoft.com/office/drawing/2014/main" id="{0A00A445-4707-445B-8B2F-2B78181F9753}"/>
              </a:ext>
            </a:extLst>
          </p:cNvPr>
          <p:cNvSpPr>
            <a:spLocks xmlns:a="http://schemas.openxmlformats.org/drawingml/2006/main" noGrp="1"/>
          </p:cNvSpPr>
          <p:nvPr/>
        </p:nvSpPr>
        <p:spPr>
          <a:xfrm xmlns:a="http://schemas.openxmlformats.org/drawingml/2006/main" flipV="0">
            <a:off x="2334199" y="2311400"/>
            <a:ext cx="122140" cy="0"/>
          </a:xfrm>
          <a:prstGeom xmlns:a="http://schemas.openxmlformats.org/drawingml/2006/main" prst="line">
            <a:avLst/>
          </a:prstGeom>
          <a:noFill xmlns:a="http://schemas.openxmlformats.org/drawingml/2006/main"/>
          <a:ln xmlns:a="http://schemas.openxmlformats.org/drawingml/2006/main" w="11430">
            <a:solidFill>
              <a:srgbClr val="D55E00"/>
            </a:solidFill>
          </a:ln>
        </p:spPr>
      </p:sp>
      <p:sp>
        <p:nvSpPr>
          <p:cNvPr id="40" name="sues_to_university/university1652_satellite_to_drone/full/r_at_1/sd-cap-left">
            <a:extLst xmlns:a="http://schemas.openxmlformats.org/drawingml/2006/main">
              <a:ext uri="{FF2B5EF4-FFF2-40B4-BE49-F238E27FC236}">
                <a16:creationId xmlns:a16="http://schemas.microsoft.com/office/drawing/2014/main" id="{D7511F4F-96E1-4E73-B0D4-09B28C1D7BE7}"/>
              </a:ext>
            </a:extLst>
          </p:cNvPr>
          <p:cNvSpPr>
            <a:spLocks xmlns:a="http://schemas.openxmlformats.org/drawingml/2006/main" noGrp="1"/>
          </p:cNvSpPr>
          <p:nvPr/>
        </p:nvSpPr>
        <p:spPr>
          <a:xfrm xmlns:a="http://schemas.openxmlformats.org/drawingml/2006/main" flipV="0">
            <a:off x="2334199" y="2284730"/>
            <a:ext cx="0" cy="53340"/>
          </a:xfrm>
          <a:prstGeom xmlns:a="http://schemas.openxmlformats.org/drawingml/2006/main" prst="line">
            <a:avLst/>
          </a:prstGeom>
          <a:noFill xmlns:a="http://schemas.openxmlformats.org/drawingml/2006/main"/>
          <a:ln xmlns:a="http://schemas.openxmlformats.org/drawingml/2006/main" w="10160">
            <a:solidFill>
              <a:srgbClr val="D55E00"/>
            </a:solidFill>
          </a:ln>
        </p:spPr>
      </p:sp>
      <p:sp>
        <p:nvSpPr>
          <p:cNvPr id="41" name="sues_to_university/university1652_satellite_to_drone/full/r_at_1/sd-cap-right">
            <a:extLst xmlns:a="http://schemas.openxmlformats.org/drawingml/2006/main">
              <a:ext uri="{FF2B5EF4-FFF2-40B4-BE49-F238E27FC236}">
                <a16:creationId xmlns:a16="http://schemas.microsoft.com/office/drawing/2014/main" id="{70E1083D-9F64-4832-98C3-05E867C6EE08}"/>
              </a:ext>
            </a:extLst>
          </p:cNvPr>
          <p:cNvSpPr>
            <a:spLocks xmlns:a="http://schemas.openxmlformats.org/drawingml/2006/main" noGrp="1"/>
          </p:cNvSpPr>
          <p:nvPr/>
        </p:nvSpPr>
        <p:spPr>
          <a:xfrm xmlns:a="http://schemas.openxmlformats.org/drawingml/2006/main" flipV="0">
            <a:off x="2456340" y="2284730"/>
            <a:ext cx="0" cy="53340"/>
          </a:xfrm>
          <a:prstGeom xmlns:a="http://schemas.openxmlformats.org/drawingml/2006/main" prst="line">
            <a:avLst/>
          </a:prstGeom>
          <a:noFill xmlns:a="http://schemas.openxmlformats.org/drawingml/2006/main"/>
          <a:ln xmlns:a="http://schemas.openxmlformats.org/drawingml/2006/main" w="10160">
            <a:solidFill>
              <a:srgbClr val="D55E00"/>
            </a:solidFill>
          </a:ln>
        </p:spPr>
      </p:sp>
      <p:sp>
        <p:nvSpPr>
          <p:cNvPr id="42" name="sues_to_university/university1652_satellite_to_drone/full/r_at_1/mean">
            <a:extLst xmlns:a="http://schemas.openxmlformats.org/drawingml/2006/main">
              <a:ext uri="{FF2B5EF4-FFF2-40B4-BE49-F238E27FC236}">
                <a16:creationId xmlns:a16="http://schemas.microsoft.com/office/drawing/2014/main" id="{FA9AAB69-7587-4D42-9016-0BDE498B7B1E}"/>
              </a:ext>
            </a:extLst>
          </p:cNvPr>
          <p:cNvSpPr>
            <a:spLocks xmlns:a="http://schemas.openxmlformats.org/drawingml/2006/main" noGrp="1"/>
          </p:cNvSpPr>
          <p:nvPr/>
        </p:nvSpPr>
        <p:spPr>
          <a:xfrm xmlns:a="http://schemas.openxmlformats.org/drawingml/2006/main">
            <a:off x="2372410" y="2288540"/>
            <a:ext cx="45720" cy="45720"/>
          </a:xfrm>
          <a:prstGeom xmlns:a="http://schemas.openxmlformats.org/drawingml/2006/main" prst="rect">
            <a:avLst/>
          </a:prstGeom>
          <a:solidFill xmlns:a="http://schemas.openxmlformats.org/drawingml/2006/main">
            <a:srgbClr val="D55E00"/>
          </a:solidFill>
          <a:ln xmlns:a="http://schemas.openxmlformats.org/drawingml/2006/main" w="0">
            <a:noFill/>
          </a:ln>
        </p:spPr>
      </p:sp>
      <p:sp>
        <p:nvSpPr>
          <p:cNvPr id="43" name="sues_to_university/university1652_satellite_to_drone/full/r_at_1/value">
            <a:extLst xmlns:a="http://schemas.openxmlformats.org/drawingml/2006/main">
              <a:ext uri="{FF2B5EF4-FFF2-40B4-BE49-F238E27FC236}">
                <a16:creationId xmlns:a16="http://schemas.microsoft.com/office/drawing/2014/main" id="{7BBDEA50-A36E-4FB2-A89C-112D390B0B8C}"/>
              </a:ext>
            </a:extLst>
          </p:cNvPr>
          <p:cNvSpPr>
            <a:spLocks xmlns:a="http://schemas.openxmlformats.org/drawingml/2006/main" noGrp="1"/>
          </p:cNvSpPr>
          <p:nvPr/>
        </p:nvSpPr>
        <p:spPr>
          <a:xfrm xmlns:a="http://schemas.openxmlformats.org/drawingml/2006/main">
            <a:off x="1892157" y="2357628"/>
            <a:ext cx="68608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D55E00"/>
                </a:solidFill>
                <a:latin typeface="Arial"/>
                <a:ea typeface="Arial"/>
                <a:cs typeface="Arial"/>
              </a:defRPr>
            </a:pPr>
            <a:r>
              <a:rPr sz="800" b="0">
                <a:solidFill>
                  <a:srgbClr val="D55E00"/>
                </a:solidFill>
                <a:latin typeface="Arial"/>
                <a:ea typeface="Arial"/>
                <a:cs typeface="Arial"/>
              </a:rPr>
              <a:t>18.260 ± 1.244</a:t>
            </a:r>
          </a:p>
        </p:txBody>
      </p:sp>
      <p:sp>
        <p:nvSpPr>
          <p:cNvPr id="44" name="sues_to_university/university1652_street_to_satellite/visual/r_at_1/sd-line">
            <a:extLst xmlns:a="http://schemas.openxmlformats.org/drawingml/2006/main">
              <a:ext uri="{FF2B5EF4-FFF2-40B4-BE49-F238E27FC236}">
                <a16:creationId xmlns:a16="http://schemas.microsoft.com/office/drawing/2014/main" id="{67198BB6-9CD2-4EB7-AB8D-6791635AC49B}"/>
              </a:ext>
            </a:extLst>
          </p:cNvPr>
          <p:cNvSpPr>
            <a:spLocks xmlns:a="http://schemas.openxmlformats.org/drawingml/2006/main" noGrp="1"/>
          </p:cNvSpPr>
          <p:nvPr/>
        </p:nvSpPr>
        <p:spPr>
          <a:xfrm xmlns:a="http://schemas.openxmlformats.org/drawingml/2006/main" flipV="0">
            <a:off x="1506502" y="2641600"/>
            <a:ext cx="9584" cy="0"/>
          </a:xfrm>
          <a:prstGeom xmlns:a="http://schemas.openxmlformats.org/drawingml/2006/main" prst="line">
            <a:avLst/>
          </a:prstGeom>
          <a:noFill xmlns:a="http://schemas.openxmlformats.org/drawingml/2006/main"/>
          <a:ln xmlns:a="http://schemas.openxmlformats.org/drawingml/2006/main" w="11430">
            <a:solidFill>
              <a:srgbClr val="0072B2"/>
            </a:solidFill>
          </a:ln>
        </p:spPr>
      </p:sp>
      <p:sp>
        <p:nvSpPr>
          <p:cNvPr id="45" name="sues_to_university/university1652_street_to_satellite/visual/r_at_1/sd-cap-left">
            <a:extLst xmlns:a="http://schemas.openxmlformats.org/drawingml/2006/main">
              <a:ext uri="{FF2B5EF4-FFF2-40B4-BE49-F238E27FC236}">
                <a16:creationId xmlns:a16="http://schemas.microsoft.com/office/drawing/2014/main" id="{9CBD8E49-2CB0-4FD8-87D1-D302576EDC2F}"/>
              </a:ext>
            </a:extLst>
          </p:cNvPr>
          <p:cNvSpPr>
            <a:spLocks xmlns:a="http://schemas.openxmlformats.org/drawingml/2006/main" noGrp="1"/>
          </p:cNvSpPr>
          <p:nvPr/>
        </p:nvSpPr>
        <p:spPr>
          <a:xfrm xmlns:a="http://schemas.openxmlformats.org/drawingml/2006/main" flipV="0">
            <a:off x="1506502" y="2614930"/>
            <a:ext cx="0" cy="53340"/>
          </a:xfrm>
          <a:prstGeom xmlns:a="http://schemas.openxmlformats.org/drawingml/2006/main" prst="line">
            <a:avLst/>
          </a:prstGeom>
          <a:noFill xmlns:a="http://schemas.openxmlformats.org/drawingml/2006/main"/>
          <a:ln xmlns:a="http://schemas.openxmlformats.org/drawingml/2006/main" w="10160">
            <a:solidFill>
              <a:srgbClr val="0072B2"/>
            </a:solidFill>
          </a:ln>
        </p:spPr>
      </p:sp>
      <p:sp>
        <p:nvSpPr>
          <p:cNvPr id="46" name="sues_to_university/university1652_street_to_satellite/visual/r_at_1/sd-cap-right">
            <a:extLst xmlns:a="http://schemas.openxmlformats.org/drawingml/2006/main">
              <a:ext uri="{FF2B5EF4-FFF2-40B4-BE49-F238E27FC236}">
                <a16:creationId xmlns:a16="http://schemas.microsoft.com/office/drawing/2014/main" id="{37B1B25C-CB33-4161-B2D3-4FEC2118FB94}"/>
              </a:ext>
            </a:extLst>
          </p:cNvPr>
          <p:cNvSpPr>
            <a:spLocks xmlns:a="http://schemas.openxmlformats.org/drawingml/2006/main" noGrp="1"/>
          </p:cNvSpPr>
          <p:nvPr/>
        </p:nvSpPr>
        <p:spPr>
          <a:xfrm xmlns:a="http://schemas.openxmlformats.org/drawingml/2006/main" flipV="0">
            <a:off x="1516086" y="2614930"/>
            <a:ext cx="0" cy="53340"/>
          </a:xfrm>
          <a:prstGeom xmlns:a="http://schemas.openxmlformats.org/drawingml/2006/main" prst="line">
            <a:avLst/>
          </a:prstGeom>
          <a:noFill xmlns:a="http://schemas.openxmlformats.org/drawingml/2006/main"/>
          <a:ln xmlns:a="http://schemas.openxmlformats.org/drawingml/2006/main" w="10160">
            <a:solidFill>
              <a:srgbClr val="0072B2"/>
            </a:solidFill>
          </a:ln>
        </p:spPr>
      </p:sp>
      <p:sp>
        <p:nvSpPr>
          <p:cNvPr id="47" name="sues_to_university/university1652_street_to_satellite/visual/r_at_1/mean">
            <a:extLst xmlns:a="http://schemas.openxmlformats.org/drawingml/2006/main">
              <a:ext uri="{FF2B5EF4-FFF2-40B4-BE49-F238E27FC236}">
                <a16:creationId xmlns:a16="http://schemas.microsoft.com/office/drawing/2014/main" id="{303FD251-382A-4788-A4E7-D99868731130}"/>
              </a:ext>
            </a:extLst>
          </p:cNvPr>
          <p:cNvSpPr>
            <a:spLocks xmlns:a="http://schemas.openxmlformats.org/drawingml/2006/main" noGrp="1"/>
          </p:cNvSpPr>
          <p:nvPr/>
        </p:nvSpPr>
        <p:spPr>
          <a:xfrm xmlns:a="http://schemas.openxmlformats.org/drawingml/2006/main">
            <a:off x="1488434" y="2618740"/>
            <a:ext cx="45720" cy="45720"/>
          </a:xfrm>
          <a:prstGeom xmlns:a="http://schemas.openxmlformats.org/drawingml/2006/main" prst="ellipse">
            <a:avLst/>
          </a:prstGeom>
          <a:solidFill xmlns:a="http://schemas.openxmlformats.org/drawingml/2006/main">
            <a:srgbClr val="0072B2"/>
          </a:solidFill>
          <a:ln xmlns:a="http://schemas.openxmlformats.org/drawingml/2006/main" w="0">
            <a:noFill/>
          </a:ln>
        </p:spPr>
      </p:sp>
      <p:sp>
        <p:nvSpPr>
          <p:cNvPr id="48" name="sues_to_university/university1652_street_to_satellite/visual/r_at_1/value">
            <a:extLst xmlns:a="http://schemas.openxmlformats.org/drawingml/2006/main">
              <a:ext uri="{FF2B5EF4-FFF2-40B4-BE49-F238E27FC236}">
                <a16:creationId xmlns:a16="http://schemas.microsoft.com/office/drawing/2014/main" id="{74B26850-24A2-4802-8E00-E66F119BD86E}"/>
              </a:ext>
            </a:extLst>
          </p:cNvPr>
          <p:cNvSpPr>
            <a:spLocks xmlns:a="http://schemas.openxmlformats.org/drawingml/2006/main" noGrp="1"/>
          </p:cNvSpPr>
          <p:nvPr/>
        </p:nvSpPr>
        <p:spPr>
          <a:xfrm xmlns:a="http://schemas.openxmlformats.org/drawingml/2006/main">
            <a:off x="1920399" y="2687828"/>
            <a:ext cx="629602"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0072B2"/>
                </a:solidFill>
                <a:latin typeface="Arial"/>
                <a:ea typeface="Arial"/>
                <a:cs typeface="Arial"/>
              </a:defRPr>
            </a:pPr>
            <a:r>
              <a:rPr sz="800" b="0">
                <a:solidFill>
                  <a:srgbClr val="0072B2"/>
                </a:solidFill>
                <a:latin typeface="Arial"/>
                <a:ea typeface="Arial"/>
                <a:cs typeface="Arial"/>
              </a:rPr>
              <a:t>0.258 ± 0.098</a:t>
            </a:r>
          </a:p>
        </p:txBody>
      </p:sp>
      <p:sp>
        <p:nvSpPr>
          <p:cNvPr id="49" name="sues_to_university/university1652_street_to_satellite/full/r_at_1/sd-line">
            <a:extLst xmlns:a="http://schemas.openxmlformats.org/drawingml/2006/main">
              <a:ext uri="{FF2B5EF4-FFF2-40B4-BE49-F238E27FC236}">
                <a16:creationId xmlns:a16="http://schemas.microsoft.com/office/drawing/2014/main" id="{271E33D0-0664-4F7E-AF0E-C529A8ED28CC}"/>
              </a:ext>
            </a:extLst>
          </p:cNvPr>
          <p:cNvSpPr>
            <a:spLocks xmlns:a="http://schemas.openxmlformats.org/drawingml/2006/main" noGrp="1"/>
          </p:cNvSpPr>
          <p:nvPr/>
        </p:nvSpPr>
        <p:spPr>
          <a:xfrm xmlns:a="http://schemas.openxmlformats.org/drawingml/2006/main" flipV="0">
            <a:off x="1510025" y="2895600"/>
            <a:ext cx="0" cy="0"/>
          </a:xfrm>
          <a:prstGeom xmlns:a="http://schemas.openxmlformats.org/drawingml/2006/main" prst="line">
            <a:avLst/>
          </a:prstGeom>
          <a:noFill xmlns:a="http://schemas.openxmlformats.org/drawingml/2006/main"/>
          <a:ln xmlns:a="http://schemas.openxmlformats.org/drawingml/2006/main" w="11430">
            <a:solidFill>
              <a:srgbClr val="D55E00"/>
            </a:solidFill>
          </a:ln>
        </p:spPr>
      </p:sp>
      <p:sp>
        <p:nvSpPr>
          <p:cNvPr id="50" name="sues_to_university/university1652_street_to_satellite/full/r_at_1/sd-cap-left">
            <a:extLst xmlns:a="http://schemas.openxmlformats.org/drawingml/2006/main">
              <a:ext uri="{FF2B5EF4-FFF2-40B4-BE49-F238E27FC236}">
                <a16:creationId xmlns:a16="http://schemas.microsoft.com/office/drawing/2014/main" id="{B25CD6A0-BD9A-4FFA-A376-8672C3F6E105}"/>
              </a:ext>
            </a:extLst>
          </p:cNvPr>
          <p:cNvSpPr>
            <a:spLocks xmlns:a="http://schemas.openxmlformats.org/drawingml/2006/main" noGrp="1"/>
          </p:cNvSpPr>
          <p:nvPr/>
        </p:nvSpPr>
        <p:spPr>
          <a:xfrm xmlns:a="http://schemas.openxmlformats.org/drawingml/2006/main" flipV="0">
            <a:off x="1510025" y="2868930"/>
            <a:ext cx="0" cy="53340"/>
          </a:xfrm>
          <a:prstGeom xmlns:a="http://schemas.openxmlformats.org/drawingml/2006/main" prst="line">
            <a:avLst/>
          </a:prstGeom>
          <a:noFill xmlns:a="http://schemas.openxmlformats.org/drawingml/2006/main"/>
          <a:ln xmlns:a="http://schemas.openxmlformats.org/drawingml/2006/main" w="10160">
            <a:solidFill>
              <a:srgbClr val="D55E00"/>
            </a:solidFill>
          </a:ln>
        </p:spPr>
      </p:sp>
      <p:sp>
        <p:nvSpPr>
          <p:cNvPr id="51" name="sues_to_university/university1652_street_to_satellite/full/r_at_1/sd-cap-right">
            <a:extLst xmlns:a="http://schemas.openxmlformats.org/drawingml/2006/main">
              <a:ext uri="{FF2B5EF4-FFF2-40B4-BE49-F238E27FC236}">
                <a16:creationId xmlns:a16="http://schemas.microsoft.com/office/drawing/2014/main" id="{B67DC4F5-5740-44C6-AEC5-57B516FD7554}"/>
              </a:ext>
            </a:extLst>
          </p:cNvPr>
          <p:cNvSpPr>
            <a:spLocks xmlns:a="http://schemas.openxmlformats.org/drawingml/2006/main" noGrp="1"/>
          </p:cNvSpPr>
          <p:nvPr/>
        </p:nvSpPr>
        <p:spPr>
          <a:xfrm xmlns:a="http://schemas.openxmlformats.org/drawingml/2006/main" flipV="0">
            <a:off x="1510025" y="2868930"/>
            <a:ext cx="0" cy="53340"/>
          </a:xfrm>
          <a:prstGeom xmlns:a="http://schemas.openxmlformats.org/drawingml/2006/main" prst="line">
            <a:avLst/>
          </a:prstGeom>
          <a:noFill xmlns:a="http://schemas.openxmlformats.org/drawingml/2006/main"/>
          <a:ln xmlns:a="http://schemas.openxmlformats.org/drawingml/2006/main" w="10160">
            <a:solidFill>
              <a:srgbClr val="D55E00"/>
            </a:solidFill>
          </a:ln>
        </p:spPr>
      </p:sp>
      <p:sp>
        <p:nvSpPr>
          <p:cNvPr id="52" name="sues_to_university/university1652_street_to_satellite/full/r_at_1/mean">
            <a:extLst xmlns:a="http://schemas.openxmlformats.org/drawingml/2006/main">
              <a:ext uri="{FF2B5EF4-FFF2-40B4-BE49-F238E27FC236}">
                <a16:creationId xmlns:a16="http://schemas.microsoft.com/office/drawing/2014/main" id="{3AA2DBBD-251F-4B2C-BAC3-E34F12159476}"/>
              </a:ext>
            </a:extLst>
          </p:cNvPr>
          <p:cNvSpPr>
            <a:spLocks xmlns:a="http://schemas.openxmlformats.org/drawingml/2006/main" noGrp="1"/>
          </p:cNvSpPr>
          <p:nvPr/>
        </p:nvSpPr>
        <p:spPr>
          <a:xfrm xmlns:a="http://schemas.openxmlformats.org/drawingml/2006/main">
            <a:off x="1487165" y="2872740"/>
            <a:ext cx="45720" cy="45720"/>
          </a:xfrm>
          <a:prstGeom xmlns:a="http://schemas.openxmlformats.org/drawingml/2006/main" prst="rect">
            <a:avLst/>
          </a:prstGeom>
          <a:solidFill xmlns:a="http://schemas.openxmlformats.org/drawingml/2006/main">
            <a:srgbClr val="D55E00"/>
          </a:solidFill>
          <a:ln xmlns:a="http://schemas.openxmlformats.org/drawingml/2006/main" w="0">
            <a:noFill/>
          </a:ln>
        </p:spPr>
      </p:sp>
      <p:sp>
        <p:nvSpPr>
          <p:cNvPr id="53" name="sues_to_university/university1652_street_to_satellite/full/r_at_1/value">
            <a:extLst xmlns:a="http://schemas.openxmlformats.org/drawingml/2006/main">
              <a:ext uri="{FF2B5EF4-FFF2-40B4-BE49-F238E27FC236}">
                <a16:creationId xmlns:a16="http://schemas.microsoft.com/office/drawing/2014/main" id="{E0C8CC9C-4E2E-4593-B1DE-56C9525AAD1B}"/>
              </a:ext>
            </a:extLst>
          </p:cNvPr>
          <p:cNvSpPr>
            <a:spLocks xmlns:a="http://schemas.openxmlformats.org/drawingml/2006/main" noGrp="1"/>
          </p:cNvSpPr>
          <p:nvPr/>
        </p:nvSpPr>
        <p:spPr>
          <a:xfrm xmlns:a="http://schemas.openxmlformats.org/drawingml/2006/main">
            <a:off x="1920399" y="2941828"/>
            <a:ext cx="629602"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D55E00"/>
                </a:solidFill>
                <a:latin typeface="Arial"/>
                <a:ea typeface="Arial"/>
                <a:cs typeface="Arial"/>
              </a:defRPr>
            </a:pPr>
            <a:r>
              <a:rPr sz="800" b="0">
                <a:solidFill>
                  <a:srgbClr val="D55E00"/>
                </a:solidFill>
                <a:latin typeface="Arial"/>
                <a:ea typeface="Arial"/>
                <a:cs typeface="Arial"/>
              </a:rPr>
              <a:t>0.233 ± 0.000</a:t>
            </a:r>
          </a:p>
        </p:txBody>
      </p:sp>
      <p:sp>
        <p:nvSpPr>
          <p:cNvPr id="54" name="sues_to_university/official_trapezoid_mAP/heading">
            <a:extLst xmlns:a="http://schemas.openxmlformats.org/drawingml/2006/main">
              <a:ext uri="{FF2B5EF4-FFF2-40B4-BE49-F238E27FC236}">
                <a16:creationId xmlns:a16="http://schemas.microsoft.com/office/drawing/2014/main" id="{6E14EBA7-039D-4C6C-BD59-1954AB025615}"/>
              </a:ext>
            </a:extLst>
          </p:cNvPr>
          <p:cNvSpPr>
            <a:spLocks xmlns:a="http://schemas.openxmlformats.org/drawingml/2006/main" noGrp="1"/>
          </p:cNvSpPr>
          <p:nvPr/>
        </p:nvSpPr>
        <p:spPr>
          <a:xfrm xmlns:a="http://schemas.openxmlformats.org/drawingml/2006/main">
            <a:off x="3437906" y="898144"/>
            <a:ext cx="896588" cy="142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900" b="1">
                <a:solidFill>
                  <a:srgbClr val="222222"/>
                </a:solidFill>
                <a:latin typeface="Arial"/>
                <a:ea typeface="Arial"/>
                <a:cs typeface="Arial"/>
              </a:defRPr>
            </a:pPr>
            <a:r>
              <a:rPr sz="900" b="1">
                <a:solidFill>
                  <a:srgbClr val="222222"/>
                </a:solidFill>
                <a:latin typeface="Arial"/>
                <a:ea typeface="Arial"/>
                <a:cs typeface="Arial"/>
              </a:rPr>
              <a:t>Official mAP (%)</a:t>
            </a:r>
          </a:p>
        </p:txBody>
      </p:sp>
      <p:sp>
        <p:nvSpPr>
          <p:cNvPr id="55" name="sues_to_university/official_trapezoid_mAP/semantics">
            <a:extLst xmlns:a="http://schemas.openxmlformats.org/drawingml/2006/main">
              <a:ext uri="{FF2B5EF4-FFF2-40B4-BE49-F238E27FC236}">
                <a16:creationId xmlns:a16="http://schemas.microsoft.com/office/drawing/2014/main" id="{00008362-EC63-497E-87EC-E029CBBC2153}"/>
              </a:ext>
            </a:extLst>
          </p:cNvPr>
          <p:cNvSpPr>
            <a:spLocks xmlns:a="http://schemas.openxmlformats.org/drawingml/2006/main" noGrp="1"/>
          </p:cNvSpPr>
          <p:nvPr/>
        </p:nvSpPr>
        <p:spPr>
          <a:xfrm xmlns:a="http://schemas.openxmlformats.org/drawingml/2006/main">
            <a:off x="3539157" y="1049528"/>
            <a:ext cx="694087"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Trapezoidal AP</a:t>
            </a:r>
          </a:p>
        </p:txBody>
      </p:sp>
      <p:sp>
        <p:nvSpPr>
          <p:cNvPr id="56" name="sues_to_university/official_trapezoid_mAP/grid/0">
            <a:extLst xmlns:a="http://schemas.openxmlformats.org/drawingml/2006/main">
              <a:ext uri="{FF2B5EF4-FFF2-40B4-BE49-F238E27FC236}">
                <a16:creationId xmlns:a16="http://schemas.microsoft.com/office/drawing/2014/main" id="{2D42BE9A-7889-427A-A6EC-5998E9561E75}"/>
              </a:ext>
            </a:extLst>
          </p:cNvPr>
          <p:cNvSpPr>
            <a:spLocks xmlns:a="http://schemas.openxmlformats.org/drawingml/2006/main" noGrp="1"/>
          </p:cNvSpPr>
          <p:nvPr/>
        </p:nvSpPr>
        <p:spPr>
          <a:xfrm xmlns:a="http://schemas.openxmlformats.org/drawingml/2006/main" flipV="0">
            <a:off x="3149600" y="1320800"/>
            <a:ext cx="0" cy="1866900"/>
          </a:xfrm>
          <a:prstGeom xmlns:a="http://schemas.openxmlformats.org/drawingml/2006/main" prst="line">
            <a:avLst/>
          </a:prstGeom>
          <a:noFill xmlns:a="http://schemas.openxmlformats.org/drawingml/2006/main"/>
          <a:ln xmlns:a="http://schemas.openxmlformats.org/drawingml/2006/main" w="5080">
            <a:solidFill>
              <a:srgbClr val="E4E8ED"/>
            </a:solidFill>
          </a:ln>
        </p:spPr>
      </p:sp>
      <p:sp>
        <p:nvSpPr>
          <p:cNvPr id="57" name="sues_to_university/official_trapezoid_mAP/tick/0">
            <a:extLst xmlns:a="http://schemas.openxmlformats.org/drawingml/2006/main">
              <a:ext uri="{FF2B5EF4-FFF2-40B4-BE49-F238E27FC236}">
                <a16:creationId xmlns:a16="http://schemas.microsoft.com/office/drawing/2014/main" id="{956E7C8E-3187-4214-A18C-5D17A860B386}"/>
              </a:ext>
            </a:extLst>
          </p:cNvPr>
          <p:cNvSpPr>
            <a:spLocks xmlns:a="http://schemas.openxmlformats.org/drawingml/2006/main" noGrp="1"/>
          </p:cNvSpPr>
          <p:nvPr/>
        </p:nvSpPr>
        <p:spPr>
          <a:xfrm xmlns:a="http://schemas.openxmlformats.org/drawingml/2006/main" flipV="0">
            <a:off x="3149600" y="1295400"/>
            <a:ext cx="0" cy="25400"/>
          </a:xfrm>
          <a:prstGeom xmlns:a="http://schemas.openxmlformats.org/drawingml/2006/main" prst="line">
            <a:avLst/>
          </a:prstGeom>
          <a:noFill xmlns:a="http://schemas.openxmlformats.org/drawingml/2006/main"/>
          <a:ln xmlns:a="http://schemas.openxmlformats.org/drawingml/2006/main" w="7620">
            <a:solidFill>
              <a:srgbClr val="444444"/>
            </a:solidFill>
          </a:ln>
        </p:spPr>
      </p:sp>
      <p:sp>
        <p:nvSpPr>
          <p:cNvPr id="58" name="sues_to_university/official_trapezoid_mAP/tick-label/0">
            <a:extLst xmlns:a="http://schemas.openxmlformats.org/drawingml/2006/main">
              <a:ext uri="{FF2B5EF4-FFF2-40B4-BE49-F238E27FC236}">
                <a16:creationId xmlns:a16="http://schemas.microsoft.com/office/drawing/2014/main" id="{676C3AF9-043A-40E9-89AC-7F0DFE7FFA0B}"/>
              </a:ext>
            </a:extLst>
          </p:cNvPr>
          <p:cNvSpPr>
            <a:spLocks xmlns:a="http://schemas.openxmlformats.org/drawingml/2006/main" noGrp="1"/>
          </p:cNvSpPr>
          <p:nvPr/>
        </p:nvSpPr>
        <p:spPr>
          <a:xfrm xmlns:a="http://schemas.openxmlformats.org/drawingml/2006/main">
            <a:off x="3116596" y="11892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0</a:t>
            </a:r>
          </a:p>
        </p:txBody>
      </p:sp>
      <p:sp>
        <p:nvSpPr>
          <p:cNvPr id="59" name="sues_to_university/official_trapezoid_mAP/grid/10">
            <a:extLst xmlns:a="http://schemas.openxmlformats.org/drawingml/2006/main">
              <a:ext uri="{FF2B5EF4-FFF2-40B4-BE49-F238E27FC236}">
                <a16:creationId xmlns:a16="http://schemas.microsoft.com/office/drawing/2014/main" id="{0C85C316-02D2-4845-A3F0-70AB0516185C}"/>
              </a:ext>
            </a:extLst>
          </p:cNvPr>
          <p:cNvSpPr>
            <a:spLocks xmlns:a="http://schemas.openxmlformats.org/drawingml/2006/main" noGrp="1"/>
          </p:cNvSpPr>
          <p:nvPr/>
        </p:nvSpPr>
        <p:spPr>
          <a:xfrm xmlns:a="http://schemas.openxmlformats.org/drawingml/2006/main" flipV="0">
            <a:off x="3886200" y="1320800"/>
            <a:ext cx="0" cy="1866900"/>
          </a:xfrm>
          <a:prstGeom xmlns:a="http://schemas.openxmlformats.org/drawingml/2006/main" prst="line">
            <a:avLst/>
          </a:prstGeom>
          <a:noFill xmlns:a="http://schemas.openxmlformats.org/drawingml/2006/main"/>
          <a:ln xmlns:a="http://schemas.openxmlformats.org/drawingml/2006/main" w="5080">
            <a:solidFill>
              <a:srgbClr val="E4E8ED"/>
            </a:solidFill>
          </a:ln>
        </p:spPr>
      </p:sp>
      <p:sp>
        <p:nvSpPr>
          <p:cNvPr id="60" name="sues_to_university/official_trapezoid_mAP/tick/10">
            <a:extLst xmlns:a="http://schemas.openxmlformats.org/drawingml/2006/main">
              <a:ext uri="{FF2B5EF4-FFF2-40B4-BE49-F238E27FC236}">
                <a16:creationId xmlns:a16="http://schemas.microsoft.com/office/drawing/2014/main" id="{EBE02932-1116-4202-8226-C6CF324D7D3E}"/>
              </a:ext>
            </a:extLst>
          </p:cNvPr>
          <p:cNvSpPr>
            <a:spLocks xmlns:a="http://schemas.openxmlformats.org/drawingml/2006/main" noGrp="1"/>
          </p:cNvSpPr>
          <p:nvPr/>
        </p:nvSpPr>
        <p:spPr>
          <a:xfrm xmlns:a="http://schemas.openxmlformats.org/drawingml/2006/main" flipV="0">
            <a:off x="3886200" y="1295400"/>
            <a:ext cx="0" cy="25400"/>
          </a:xfrm>
          <a:prstGeom xmlns:a="http://schemas.openxmlformats.org/drawingml/2006/main" prst="line">
            <a:avLst/>
          </a:prstGeom>
          <a:noFill xmlns:a="http://schemas.openxmlformats.org/drawingml/2006/main"/>
          <a:ln xmlns:a="http://schemas.openxmlformats.org/drawingml/2006/main" w="7620">
            <a:solidFill>
              <a:srgbClr val="444444"/>
            </a:solidFill>
          </a:ln>
        </p:spPr>
      </p:sp>
      <p:sp>
        <p:nvSpPr>
          <p:cNvPr id="61" name="sues_to_university/official_trapezoid_mAP/tick-label/10">
            <a:extLst xmlns:a="http://schemas.openxmlformats.org/drawingml/2006/main">
              <a:ext uri="{FF2B5EF4-FFF2-40B4-BE49-F238E27FC236}">
                <a16:creationId xmlns:a16="http://schemas.microsoft.com/office/drawing/2014/main" id="{44BC0FA4-1B14-449C-8269-A317FA840CAA}"/>
              </a:ext>
            </a:extLst>
          </p:cNvPr>
          <p:cNvSpPr>
            <a:spLocks xmlns:a="http://schemas.openxmlformats.org/drawingml/2006/main" noGrp="1"/>
          </p:cNvSpPr>
          <p:nvPr/>
        </p:nvSpPr>
        <p:spPr>
          <a:xfrm xmlns:a="http://schemas.openxmlformats.org/drawingml/2006/main">
            <a:off x="3825002" y="1189228"/>
            <a:ext cx="12239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10</a:t>
            </a:r>
          </a:p>
        </p:txBody>
      </p:sp>
      <p:sp>
        <p:nvSpPr>
          <p:cNvPr id="62" name="sues_to_university/official_trapezoid_mAP/grid/20">
            <a:extLst xmlns:a="http://schemas.openxmlformats.org/drawingml/2006/main">
              <a:ext uri="{FF2B5EF4-FFF2-40B4-BE49-F238E27FC236}">
                <a16:creationId xmlns:a16="http://schemas.microsoft.com/office/drawing/2014/main" id="{ABA6447E-3C9B-45B3-B710-9388A254AA53}"/>
              </a:ext>
            </a:extLst>
          </p:cNvPr>
          <p:cNvSpPr>
            <a:spLocks xmlns:a="http://schemas.openxmlformats.org/drawingml/2006/main" noGrp="1"/>
          </p:cNvSpPr>
          <p:nvPr/>
        </p:nvSpPr>
        <p:spPr>
          <a:xfrm xmlns:a="http://schemas.openxmlformats.org/drawingml/2006/main" flipV="0">
            <a:off x="4622800" y="1320800"/>
            <a:ext cx="0" cy="1866900"/>
          </a:xfrm>
          <a:prstGeom xmlns:a="http://schemas.openxmlformats.org/drawingml/2006/main" prst="line">
            <a:avLst/>
          </a:prstGeom>
          <a:noFill xmlns:a="http://schemas.openxmlformats.org/drawingml/2006/main"/>
          <a:ln xmlns:a="http://schemas.openxmlformats.org/drawingml/2006/main" w="5080">
            <a:solidFill>
              <a:srgbClr val="E4E8ED"/>
            </a:solidFill>
          </a:ln>
        </p:spPr>
      </p:sp>
      <p:sp>
        <p:nvSpPr>
          <p:cNvPr id="63" name="sues_to_university/official_trapezoid_mAP/tick/20">
            <a:extLst xmlns:a="http://schemas.openxmlformats.org/drawingml/2006/main">
              <a:ext uri="{FF2B5EF4-FFF2-40B4-BE49-F238E27FC236}">
                <a16:creationId xmlns:a16="http://schemas.microsoft.com/office/drawing/2014/main" id="{7FDCF7CC-4911-41DB-9E84-C3154439B57C}"/>
              </a:ext>
            </a:extLst>
          </p:cNvPr>
          <p:cNvSpPr>
            <a:spLocks xmlns:a="http://schemas.openxmlformats.org/drawingml/2006/main" noGrp="1"/>
          </p:cNvSpPr>
          <p:nvPr/>
        </p:nvSpPr>
        <p:spPr>
          <a:xfrm xmlns:a="http://schemas.openxmlformats.org/drawingml/2006/main" flipV="0">
            <a:off x="4622800" y="1295400"/>
            <a:ext cx="0" cy="25400"/>
          </a:xfrm>
          <a:prstGeom xmlns:a="http://schemas.openxmlformats.org/drawingml/2006/main" prst="line">
            <a:avLst/>
          </a:prstGeom>
          <a:noFill xmlns:a="http://schemas.openxmlformats.org/drawingml/2006/main"/>
          <a:ln xmlns:a="http://schemas.openxmlformats.org/drawingml/2006/main" w="7620">
            <a:solidFill>
              <a:srgbClr val="444444"/>
            </a:solidFill>
          </a:ln>
        </p:spPr>
      </p:sp>
      <p:sp>
        <p:nvSpPr>
          <p:cNvPr id="64" name="sues_to_university/official_trapezoid_mAP/tick-label/20">
            <a:extLst xmlns:a="http://schemas.openxmlformats.org/drawingml/2006/main">
              <a:ext uri="{FF2B5EF4-FFF2-40B4-BE49-F238E27FC236}">
                <a16:creationId xmlns:a16="http://schemas.microsoft.com/office/drawing/2014/main" id="{1424CC34-4DC0-4BE3-B962-2DB0097CA822}"/>
              </a:ext>
            </a:extLst>
          </p:cNvPr>
          <p:cNvSpPr>
            <a:spLocks xmlns:a="http://schemas.openxmlformats.org/drawingml/2006/main" noGrp="1"/>
          </p:cNvSpPr>
          <p:nvPr/>
        </p:nvSpPr>
        <p:spPr>
          <a:xfrm xmlns:a="http://schemas.openxmlformats.org/drawingml/2006/main">
            <a:off x="4561602" y="1189228"/>
            <a:ext cx="12239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20</a:t>
            </a:r>
          </a:p>
        </p:txBody>
      </p:sp>
      <p:sp>
        <p:nvSpPr>
          <p:cNvPr id="65" name="sues_to_university/official_trapezoid_mAP/axis">
            <a:extLst xmlns:a="http://schemas.openxmlformats.org/drawingml/2006/main">
              <a:ext uri="{FF2B5EF4-FFF2-40B4-BE49-F238E27FC236}">
                <a16:creationId xmlns:a16="http://schemas.microsoft.com/office/drawing/2014/main" id="{F1FACE6A-1808-4D72-8A59-0B1A11F83AFD}"/>
              </a:ext>
            </a:extLst>
          </p:cNvPr>
          <p:cNvSpPr>
            <a:spLocks xmlns:a="http://schemas.openxmlformats.org/drawingml/2006/main" noGrp="1"/>
          </p:cNvSpPr>
          <p:nvPr/>
        </p:nvSpPr>
        <p:spPr>
          <a:xfrm xmlns:a="http://schemas.openxmlformats.org/drawingml/2006/main" flipV="0">
            <a:off x="3149600" y="1320800"/>
            <a:ext cx="1473200" cy="0"/>
          </a:xfrm>
          <a:prstGeom xmlns:a="http://schemas.openxmlformats.org/drawingml/2006/main" prst="line">
            <a:avLst/>
          </a:prstGeom>
          <a:noFill xmlns:a="http://schemas.openxmlformats.org/drawingml/2006/main"/>
          <a:ln xmlns:a="http://schemas.openxmlformats.org/drawingml/2006/main" w="7620">
            <a:solidFill>
              <a:srgbClr val="444444"/>
            </a:solidFill>
          </a:ln>
        </p:spPr>
      </p:sp>
      <p:sp>
        <p:nvSpPr>
          <p:cNvPr id="66" name="sues_to_university/university1652_drone_to_satellite/visual/official_trapezoid_mAP/sd-line">
            <a:extLst xmlns:a="http://schemas.openxmlformats.org/drawingml/2006/main">
              <a:ext uri="{FF2B5EF4-FFF2-40B4-BE49-F238E27FC236}">
                <a16:creationId xmlns:a16="http://schemas.microsoft.com/office/drawing/2014/main" id="{76372253-E8BB-4F0D-B2AC-F5B328738F1E}"/>
              </a:ext>
            </a:extLst>
          </p:cNvPr>
          <p:cNvSpPr>
            <a:spLocks xmlns:a="http://schemas.openxmlformats.org/drawingml/2006/main" noGrp="1"/>
          </p:cNvSpPr>
          <p:nvPr/>
        </p:nvSpPr>
        <p:spPr>
          <a:xfrm xmlns:a="http://schemas.openxmlformats.org/drawingml/2006/main" flipV="0">
            <a:off x="4239650" y="1473200"/>
            <a:ext cx="9278" cy="0"/>
          </a:xfrm>
          <a:prstGeom xmlns:a="http://schemas.openxmlformats.org/drawingml/2006/main" prst="line">
            <a:avLst/>
          </a:prstGeom>
          <a:noFill xmlns:a="http://schemas.openxmlformats.org/drawingml/2006/main"/>
          <a:ln xmlns:a="http://schemas.openxmlformats.org/drawingml/2006/main" w="11430">
            <a:solidFill>
              <a:srgbClr val="0072B2"/>
            </a:solidFill>
          </a:ln>
        </p:spPr>
      </p:sp>
      <p:sp>
        <p:nvSpPr>
          <p:cNvPr id="67" name="sues_to_university/university1652_drone_to_satellite/visual/official_trapezoid_mAP/sd-cap-left">
            <a:extLst xmlns:a="http://schemas.openxmlformats.org/drawingml/2006/main">
              <a:ext uri="{FF2B5EF4-FFF2-40B4-BE49-F238E27FC236}">
                <a16:creationId xmlns:a16="http://schemas.microsoft.com/office/drawing/2014/main" id="{344F1672-AA71-4241-8C4B-D461875AE574}"/>
              </a:ext>
            </a:extLst>
          </p:cNvPr>
          <p:cNvSpPr>
            <a:spLocks xmlns:a="http://schemas.openxmlformats.org/drawingml/2006/main" noGrp="1"/>
          </p:cNvSpPr>
          <p:nvPr/>
        </p:nvSpPr>
        <p:spPr>
          <a:xfrm xmlns:a="http://schemas.openxmlformats.org/drawingml/2006/main" flipV="0">
            <a:off x="4239650" y="1446530"/>
            <a:ext cx="0" cy="53340"/>
          </a:xfrm>
          <a:prstGeom xmlns:a="http://schemas.openxmlformats.org/drawingml/2006/main" prst="line">
            <a:avLst/>
          </a:prstGeom>
          <a:noFill xmlns:a="http://schemas.openxmlformats.org/drawingml/2006/main"/>
          <a:ln xmlns:a="http://schemas.openxmlformats.org/drawingml/2006/main" w="10160">
            <a:solidFill>
              <a:srgbClr val="0072B2"/>
            </a:solidFill>
          </a:ln>
        </p:spPr>
      </p:sp>
      <p:sp>
        <p:nvSpPr>
          <p:cNvPr id="68" name="sues_to_university/university1652_drone_to_satellite/visual/official_trapezoid_mAP/sd-cap-right">
            <a:extLst xmlns:a="http://schemas.openxmlformats.org/drawingml/2006/main">
              <a:ext uri="{FF2B5EF4-FFF2-40B4-BE49-F238E27FC236}">
                <a16:creationId xmlns:a16="http://schemas.microsoft.com/office/drawing/2014/main" id="{573D6712-7AA3-45B4-99B1-1A9A67D31158}"/>
              </a:ext>
            </a:extLst>
          </p:cNvPr>
          <p:cNvSpPr>
            <a:spLocks xmlns:a="http://schemas.openxmlformats.org/drawingml/2006/main" noGrp="1"/>
          </p:cNvSpPr>
          <p:nvPr/>
        </p:nvSpPr>
        <p:spPr>
          <a:xfrm xmlns:a="http://schemas.openxmlformats.org/drawingml/2006/main" flipV="0">
            <a:off x="4248928" y="1446530"/>
            <a:ext cx="0" cy="53340"/>
          </a:xfrm>
          <a:prstGeom xmlns:a="http://schemas.openxmlformats.org/drawingml/2006/main" prst="line">
            <a:avLst/>
          </a:prstGeom>
          <a:noFill xmlns:a="http://schemas.openxmlformats.org/drawingml/2006/main"/>
          <a:ln xmlns:a="http://schemas.openxmlformats.org/drawingml/2006/main" w="10160">
            <a:solidFill>
              <a:srgbClr val="0072B2"/>
            </a:solidFill>
          </a:ln>
        </p:spPr>
      </p:sp>
      <p:sp>
        <p:nvSpPr>
          <p:cNvPr id="69" name="sues_to_university/university1652_drone_to_satellite/visual/official_trapezoid_mAP/mean">
            <a:extLst xmlns:a="http://schemas.openxmlformats.org/drawingml/2006/main">
              <a:ext uri="{FF2B5EF4-FFF2-40B4-BE49-F238E27FC236}">
                <a16:creationId xmlns:a16="http://schemas.microsoft.com/office/drawing/2014/main" id="{9E7FE11F-F036-47D3-962D-B68AC44261ED}"/>
              </a:ext>
            </a:extLst>
          </p:cNvPr>
          <p:cNvSpPr>
            <a:spLocks xmlns:a="http://schemas.openxmlformats.org/drawingml/2006/main" noGrp="1"/>
          </p:cNvSpPr>
          <p:nvPr/>
        </p:nvSpPr>
        <p:spPr>
          <a:xfrm xmlns:a="http://schemas.openxmlformats.org/drawingml/2006/main">
            <a:off x="4221429" y="1450340"/>
            <a:ext cx="45720" cy="45720"/>
          </a:xfrm>
          <a:prstGeom xmlns:a="http://schemas.openxmlformats.org/drawingml/2006/main" prst="ellipse">
            <a:avLst/>
          </a:prstGeom>
          <a:solidFill xmlns:a="http://schemas.openxmlformats.org/drawingml/2006/main">
            <a:srgbClr val="0072B2"/>
          </a:solidFill>
          <a:ln xmlns:a="http://schemas.openxmlformats.org/drawingml/2006/main" w="0">
            <a:noFill/>
          </a:ln>
        </p:spPr>
      </p:sp>
      <p:sp>
        <p:nvSpPr>
          <p:cNvPr id="70" name="sues_to_university/university1652_drone_to_satellite/visual/official_trapezoid_mAP/value">
            <a:extLst xmlns:a="http://schemas.openxmlformats.org/drawingml/2006/main">
              <a:ext uri="{FF2B5EF4-FFF2-40B4-BE49-F238E27FC236}">
                <a16:creationId xmlns:a16="http://schemas.microsoft.com/office/drawing/2014/main" id="{75B5FD4E-8828-4FFB-BBE7-E4F43A12DAEF}"/>
              </a:ext>
            </a:extLst>
          </p:cNvPr>
          <p:cNvSpPr>
            <a:spLocks xmlns:a="http://schemas.openxmlformats.org/drawingml/2006/main" noGrp="1"/>
          </p:cNvSpPr>
          <p:nvPr/>
        </p:nvSpPr>
        <p:spPr>
          <a:xfrm xmlns:a="http://schemas.openxmlformats.org/drawingml/2006/main">
            <a:off x="3543157" y="1519428"/>
            <a:ext cx="68608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0072B2"/>
                </a:solidFill>
                <a:latin typeface="Arial"/>
                <a:ea typeface="Arial"/>
                <a:cs typeface="Arial"/>
              </a:defRPr>
            </a:pPr>
            <a:r>
              <a:rPr sz="800" b="0">
                <a:solidFill>
                  <a:srgbClr val="0072B2"/>
                </a:solidFill>
                <a:latin typeface="Arial"/>
                <a:ea typeface="Arial"/>
                <a:cs typeface="Arial"/>
              </a:rPr>
              <a:t>14.861 ± 0.063</a:t>
            </a:r>
          </a:p>
        </p:txBody>
      </p:sp>
      <p:sp>
        <p:nvSpPr>
          <p:cNvPr id="71" name="sues_to_university/university1652_drone_to_satellite/full/official_trapezoid_mAP/sd-line">
            <a:extLst xmlns:a="http://schemas.openxmlformats.org/drawingml/2006/main">
              <a:ext uri="{FF2B5EF4-FFF2-40B4-BE49-F238E27FC236}">
                <a16:creationId xmlns:a16="http://schemas.microsoft.com/office/drawing/2014/main" id="{30E2CAA8-7DDC-4802-BFFC-8D0EA143E13C}"/>
              </a:ext>
            </a:extLst>
          </p:cNvPr>
          <p:cNvSpPr>
            <a:spLocks xmlns:a="http://schemas.openxmlformats.org/drawingml/2006/main" noGrp="1"/>
          </p:cNvSpPr>
          <p:nvPr/>
        </p:nvSpPr>
        <p:spPr>
          <a:xfrm xmlns:a="http://schemas.openxmlformats.org/drawingml/2006/main" flipV="0">
            <a:off x="3956584" y="1727200"/>
            <a:ext cx="103064" cy="0"/>
          </a:xfrm>
          <a:prstGeom xmlns:a="http://schemas.openxmlformats.org/drawingml/2006/main" prst="line">
            <a:avLst/>
          </a:prstGeom>
          <a:noFill xmlns:a="http://schemas.openxmlformats.org/drawingml/2006/main"/>
          <a:ln xmlns:a="http://schemas.openxmlformats.org/drawingml/2006/main" w="11430">
            <a:solidFill>
              <a:srgbClr val="D55E00"/>
            </a:solidFill>
          </a:ln>
        </p:spPr>
      </p:sp>
      <p:sp>
        <p:nvSpPr>
          <p:cNvPr id="72" name="sues_to_university/university1652_drone_to_satellite/full/official_trapezoid_mAP/sd-cap-left">
            <a:extLst xmlns:a="http://schemas.openxmlformats.org/drawingml/2006/main">
              <a:ext uri="{FF2B5EF4-FFF2-40B4-BE49-F238E27FC236}">
                <a16:creationId xmlns:a16="http://schemas.microsoft.com/office/drawing/2014/main" id="{99CFC40E-B170-475B-993C-96793EC1C6FE}"/>
              </a:ext>
            </a:extLst>
          </p:cNvPr>
          <p:cNvSpPr>
            <a:spLocks xmlns:a="http://schemas.openxmlformats.org/drawingml/2006/main" noGrp="1"/>
          </p:cNvSpPr>
          <p:nvPr/>
        </p:nvSpPr>
        <p:spPr>
          <a:xfrm xmlns:a="http://schemas.openxmlformats.org/drawingml/2006/main" flipV="0">
            <a:off x="3956584" y="1700530"/>
            <a:ext cx="0" cy="53340"/>
          </a:xfrm>
          <a:prstGeom xmlns:a="http://schemas.openxmlformats.org/drawingml/2006/main" prst="line">
            <a:avLst/>
          </a:prstGeom>
          <a:noFill xmlns:a="http://schemas.openxmlformats.org/drawingml/2006/main"/>
          <a:ln xmlns:a="http://schemas.openxmlformats.org/drawingml/2006/main" w="10160">
            <a:solidFill>
              <a:srgbClr val="D55E00"/>
            </a:solidFill>
          </a:ln>
        </p:spPr>
      </p:sp>
      <p:sp>
        <p:nvSpPr>
          <p:cNvPr id="73" name="sues_to_university/university1652_drone_to_satellite/full/official_trapezoid_mAP/sd-cap-right">
            <a:extLst xmlns:a="http://schemas.openxmlformats.org/drawingml/2006/main">
              <a:ext uri="{FF2B5EF4-FFF2-40B4-BE49-F238E27FC236}">
                <a16:creationId xmlns:a16="http://schemas.microsoft.com/office/drawing/2014/main" id="{9008392B-B783-4CD6-855E-0E055C8DA36B}"/>
              </a:ext>
            </a:extLst>
          </p:cNvPr>
          <p:cNvSpPr>
            <a:spLocks xmlns:a="http://schemas.openxmlformats.org/drawingml/2006/main" noGrp="1"/>
          </p:cNvSpPr>
          <p:nvPr/>
        </p:nvSpPr>
        <p:spPr>
          <a:xfrm xmlns:a="http://schemas.openxmlformats.org/drawingml/2006/main" flipV="0">
            <a:off x="4059648" y="1700530"/>
            <a:ext cx="0" cy="53340"/>
          </a:xfrm>
          <a:prstGeom xmlns:a="http://schemas.openxmlformats.org/drawingml/2006/main" prst="line">
            <a:avLst/>
          </a:prstGeom>
          <a:noFill xmlns:a="http://schemas.openxmlformats.org/drawingml/2006/main"/>
          <a:ln xmlns:a="http://schemas.openxmlformats.org/drawingml/2006/main" w="10160">
            <a:solidFill>
              <a:srgbClr val="D55E00"/>
            </a:solidFill>
          </a:ln>
        </p:spPr>
      </p:sp>
      <p:sp>
        <p:nvSpPr>
          <p:cNvPr id="74" name="sues_to_university/university1652_drone_to_satellite/full/official_trapezoid_mAP/mean">
            <a:extLst xmlns:a="http://schemas.openxmlformats.org/drawingml/2006/main">
              <a:ext uri="{FF2B5EF4-FFF2-40B4-BE49-F238E27FC236}">
                <a16:creationId xmlns:a16="http://schemas.microsoft.com/office/drawing/2014/main" id="{5CD63884-DD0A-41A3-A498-EA1B61613CB7}"/>
              </a:ext>
            </a:extLst>
          </p:cNvPr>
          <p:cNvSpPr>
            <a:spLocks xmlns:a="http://schemas.openxmlformats.org/drawingml/2006/main" noGrp="1"/>
          </p:cNvSpPr>
          <p:nvPr/>
        </p:nvSpPr>
        <p:spPr>
          <a:xfrm xmlns:a="http://schemas.openxmlformats.org/drawingml/2006/main">
            <a:off x="3985256" y="1704340"/>
            <a:ext cx="45720" cy="45720"/>
          </a:xfrm>
          <a:prstGeom xmlns:a="http://schemas.openxmlformats.org/drawingml/2006/main" prst="rect">
            <a:avLst/>
          </a:prstGeom>
          <a:solidFill xmlns:a="http://schemas.openxmlformats.org/drawingml/2006/main">
            <a:srgbClr val="D55E00"/>
          </a:solidFill>
          <a:ln xmlns:a="http://schemas.openxmlformats.org/drawingml/2006/main" w="0">
            <a:noFill/>
          </a:ln>
        </p:spPr>
      </p:sp>
      <p:sp>
        <p:nvSpPr>
          <p:cNvPr id="75" name="sues_to_university/university1652_drone_to_satellite/full/official_trapezoid_mAP/value">
            <a:extLst xmlns:a="http://schemas.openxmlformats.org/drawingml/2006/main">
              <a:ext uri="{FF2B5EF4-FFF2-40B4-BE49-F238E27FC236}">
                <a16:creationId xmlns:a16="http://schemas.microsoft.com/office/drawing/2014/main" id="{2E02D822-EB30-4F74-85B3-8BF6FE8A36B2}"/>
              </a:ext>
            </a:extLst>
          </p:cNvPr>
          <p:cNvSpPr>
            <a:spLocks xmlns:a="http://schemas.openxmlformats.org/drawingml/2006/main" noGrp="1"/>
          </p:cNvSpPr>
          <p:nvPr/>
        </p:nvSpPr>
        <p:spPr>
          <a:xfrm xmlns:a="http://schemas.openxmlformats.org/drawingml/2006/main">
            <a:off x="3546920" y="1773428"/>
            <a:ext cx="678561"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D55E00"/>
                </a:solidFill>
                <a:latin typeface="Arial"/>
                <a:ea typeface="Arial"/>
                <a:cs typeface="Arial"/>
              </a:defRPr>
            </a:pPr>
            <a:r>
              <a:rPr sz="800" b="0">
                <a:solidFill>
                  <a:srgbClr val="D55E00"/>
                </a:solidFill>
                <a:latin typeface="Arial"/>
                <a:ea typeface="Arial"/>
                <a:cs typeface="Arial"/>
              </a:rPr>
              <a:t>11.655 ± 0.700</a:t>
            </a:r>
          </a:p>
        </p:txBody>
      </p:sp>
      <p:sp>
        <p:nvSpPr>
          <p:cNvPr id="76" name="sues_to_university/university1652_satellite_to_drone/visual/official_trapezoid_mAP/sd-line">
            <a:extLst xmlns:a="http://schemas.openxmlformats.org/drawingml/2006/main">
              <a:ext uri="{FF2B5EF4-FFF2-40B4-BE49-F238E27FC236}">
                <a16:creationId xmlns:a16="http://schemas.microsoft.com/office/drawing/2014/main" id="{B9FE77D2-DD0F-42C9-A878-FBE86C3CDF47}"/>
              </a:ext>
            </a:extLst>
          </p:cNvPr>
          <p:cNvSpPr>
            <a:spLocks xmlns:a="http://schemas.openxmlformats.org/drawingml/2006/main" noGrp="1"/>
          </p:cNvSpPr>
          <p:nvPr/>
        </p:nvSpPr>
        <p:spPr>
          <a:xfrm xmlns:a="http://schemas.openxmlformats.org/drawingml/2006/main" flipV="0">
            <a:off x="3818162" y="2057400"/>
            <a:ext cx="68780" cy="0"/>
          </a:xfrm>
          <a:prstGeom xmlns:a="http://schemas.openxmlformats.org/drawingml/2006/main" prst="line">
            <a:avLst/>
          </a:prstGeom>
          <a:noFill xmlns:a="http://schemas.openxmlformats.org/drawingml/2006/main"/>
          <a:ln xmlns:a="http://schemas.openxmlformats.org/drawingml/2006/main" w="11430">
            <a:solidFill>
              <a:srgbClr val="0072B2"/>
            </a:solidFill>
          </a:ln>
        </p:spPr>
      </p:sp>
      <p:sp>
        <p:nvSpPr>
          <p:cNvPr id="77" name="sues_to_university/university1652_satellite_to_drone/visual/official_trapezoid_mAP/sd-cap-left">
            <a:extLst xmlns:a="http://schemas.openxmlformats.org/drawingml/2006/main">
              <a:ext uri="{FF2B5EF4-FFF2-40B4-BE49-F238E27FC236}">
                <a16:creationId xmlns:a16="http://schemas.microsoft.com/office/drawing/2014/main" id="{0A64B633-72ED-4238-9A9D-040A160FEF16}"/>
              </a:ext>
            </a:extLst>
          </p:cNvPr>
          <p:cNvSpPr>
            <a:spLocks xmlns:a="http://schemas.openxmlformats.org/drawingml/2006/main" noGrp="1"/>
          </p:cNvSpPr>
          <p:nvPr/>
        </p:nvSpPr>
        <p:spPr>
          <a:xfrm xmlns:a="http://schemas.openxmlformats.org/drawingml/2006/main" flipV="0">
            <a:off x="3818162" y="2030730"/>
            <a:ext cx="0" cy="53340"/>
          </a:xfrm>
          <a:prstGeom xmlns:a="http://schemas.openxmlformats.org/drawingml/2006/main" prst="line">
            <a:avLst/>
          </a:prstGeom>
          <a:noFill xmlns:a="http://schemas.openxmlformats.org/drawingml/2006/main"/>
          <a:ln xmlns:a="http://schemas.openxmlformats.org/drawingml/2006/main" w="10160">
            <a:solidFill>
              <a:srgbClr val="0072B2"/>
            </a:solidFill>
          </a:ln>
        </p:spPr>
      </p:sp>
      <p:sp>
        <p:nvSpPr>
          <p:cNvPr id="78" name="sues_to_university/university1652_satellite_to_drone/visual/official_trapezoid_mAP/sd-cap-right">
            <a:extLst xmlns:a="http://schemas.openxmlformats.org/drawingml/2006/main">
              <a:ext uri="{FF2B5EF4-FFF2-40B4-BE49-F238E27FC236}">
                <a16:creationId xmlns:a16="http://schemas.microsoft.com/office/drawing/2014/main" id="{30ED5691-4BC8-4B2D-922D-003430550564}"/>
              </a:ext>
            </a:extLst>
          </p:cNvPr>
          <p:cNvSpPr>
            <a:spLocks xmlns:a="http://schemas.openxmlformats.org/drawingml/2006/main" noGrp="1"/>
          </p:cNvSpPr>
          <p:nvPr/>
        </p:nvSpPr>
        <p:spPr>
          <a:xfrm xmlns:a="http://schemas.openxmlformats.org/drawingml/2006/main" flipV="0">
            <a:off x="3886942" y="2030730"/>
            <a:ext cx="0" cy="53340"/>
          </a:xfrm>
          <a:prstGeom xmlns:a="http://schemas.openxmlformats.org/drawingml/2006/main" prst="line">
            <a:avLst/>
          </a:prstGeom>
          <a:noFill xmlns:a="http://schemas.openxmlformats.org/drawingml/2006/main"/>
          <a:ln xmlns:a="http://schemas.openxmlformats.org/drawingml/2006/main" w="10160">
            <a:solidFill>
              <a:srgbClr val="0072B2"/>
            </a:solidFill>
          </a:ln>
        </p:spPr>
      </p:sp>
      <p:sp>
        <p:nvSpPr>
          <p:cNvPr id="79" name="sues_to_university/university1652_satellite_to_drone/visual/official_trapezoid_mAP/mean">
            <a:extLst xmlns:a="http://schemas.openxmlformats.org/drawingml/2006/main">
              <a:ext uri="{FF2B5EF4-FFF2-40B4-BE49-F238E27FC236}">
                <a16:creationId xmlns:a16="http://schemas.microsoft.com/office/drawing/2014/main" id="{A30CE212-A08E-45B0-B2B5-DE7CC7DA7EE7}"/>
              </a:ext>
            </a:extLst>
          </p:cNvPr>
          <p:cNvSpPr>
            <a:spLocks xmlns:a="http://schemas.openxmlformats.org/drawingml/2006/main" noGrp="1"/>
          </p:cNvSpPr>
          <p:nvPr/>
        </p:nvSpPr>
        <p:spPr>
          <a:xfrm xmlns:a="http://schemas.openxmlformats.org/drawingml/2006/main">
            <a:off x="3829692" y="2034540"/>
            <a:ext cx="45720" cy="45720"/>
          </a:xfrm>
          <a:prstGeom xmlns:a="http://schemas.openxmlformats.org/drawingml/2006/main" prst="ellipse">
            <a:avLst/>
          </a:prstGeom>
          <a:solidFill xmlns:a="http://schemas.openxmlformats.org/drawingml/2006/main">
            <a:srgbClr val="0072B2"/>
          </a:solidFill>
          <a:ln xmlns:a="http://schemas.openxmlformats.org/drawingml/2006/main" w="0">
            <a:noFill/>
          </a:ln>
        </p:spPr>
      </p:sp>
      <p:sp>
        <p:nvSpPr>
          <p:cNvPr id="80" name="sues_to_university/university1652_satellite_to_drone/visual/official_trapezoid_mAP/value">
            <a:extLst xmlns:a="http://schemas.openxmlformats.org/drawingml/2006/main">
              <a:ext uri="{FF2B5EF4-FFF2-40B4-BE49-F238E27FC236}">
                <a16:creationId xmlns:a16="http://schemas.microsoft.com/office/drawing/2014/main" id="{B80045C1-0E6F-4D50-B032-535AA365A3F4}"/>
              </a:ext>
            </a:extLst>
          </p:cNvPr>
          <p:cNvSpPr>
            <a:spLocks xmlns:a="http://schemas.openxmlformats.org/drawingml/2006/main" noGrp="1"/>
          </p:cNvSpPr>
          <p:nvPr/>
        </p:nvSpPr>
        <p:spPr>
          <a:xfrm xmlns:a="http://schemas.openxmlformats.org/drawingml/2006/main">
            <a:off x="3571399" y="2103628"/>
            <a:ext cx="629602"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0072B2"/>
                </a:solidFill>
                <a:latin typeface="Arial"/>
                <a:ea typeface="Arial"/>
                <a:cs typeface="Arial"/>
              </a:defRPr>
            </a:pPr>
            <a:r>
              <a:rPr sz="800" b="0">
                <a:solidFill>
                  <a:srgbClr val="0072B2"/>
                </a:solidFill>
                <a:latin typeface="Arial"/>
                <a:ea typeface="Arial"/>
                <a:cs typeface="Arial"/>
              </a:rPr>
              <a:t>9.543 ± 0.467</a:t>
            </a:r>
          </a:p>
        </p:txBody>
      </p:sp>
      <p:sp>
        <p:nvSpPr>
          <p:cNvPr id="81" name="sues_to_university/university1652_satellite_to_drone/full/official_trapezoid_mAP/sd-line">
            <a:extLst xmlns:a="http://schemas.openxmlformats.org/drawingml/2006/main">
              <a:ext uri="{FF2B5EF4-FFF2-40B4-BE49-F238E27FC236}">
                <a16:creationId xmlns:a16="http://schemas.microsoft.com/office/drawing/2014/main" id="{3F2A05AA-7572-4FA1-A140-F8764BC9B7B7}"/>
              </a:ext>
            </a:extLst>
          </p:cNvPr>
          <p:cNvSpPr>
            <a:spLocks xmlns:a="http://schemas.openxmlformats.org/drawingml/2006/main" noGrp="1"/>
          </p:cNvSpPr>
          <p:nvPr/>
        </p:nvSpPr>
        <p:spPr>
          <a:xfrm xmlns:a="http://schemas.openxmlformats.org/drawingml/2006/main" flipV="0">
            <a:off x="3630537" y="2311400"/>
            <a:ext cx="64475" cy="0"/>
          </a:xfrm>
          <a:prstGeom xmlns:a="http://schemas.openxmlformats.org/drawingml/2006/main" prst="line">
            <a:avLst/>
          </a:prstGeom>
          <a:noFill xmlns:a="http://schemas.openxmlformats.org/drawingml/2006/main"/>
          <a:ln xmlns:a="http://schemas.openxmlformats.org/drawingml/2006/main" w="11430">
            <a:solidFill>
              <a:srgbClr val="D55E00"/>
            </a:solidFill>
          </a:ln>
        </p:spPr>
      </p:sp>
      <p:sp>
        <p:nvSpPr>
          <p:cNvPr id="82" name="sues_to_university/university1652_satellite_to_drone/full/official_trapezoid_mAP/sd-cap-left">
            <a:extLst xmlns:a="http://schemas.openxmlformats.org/drawingml/2006/main">
              <a:ext uri="{FF2B5EF4-FFF2-40B4-BE49-F238E27FC236}">
                <a16:creationId xmlns:a16="http://schemas.microsoft.com/office/drawing/2014/main" id="{15842DD8-0333-4C29-A2F8-8F27834A9AEE}"/>
              </a:ext>
            </a:extLst>
          </p:cNvPr>
          <p:cNvSpPr>
            <a:spLocks xmlns:a="http://schemas.openxmlformats.org/drawingml/2006/main" noGrp="1"/>
          </p:cNvSpPr>
          <p:nvPr/>
        </p:nvSpPr>
        <p:spPr>
          <a:xfrm xmlns:a="http://schemas.openxmlformats.org/drawingml/2006/main" flipV="0">
            <a:off x="3630537" y="2284730"/>
            <a:ext cx="0" cy="53340"/>
          </a:xfrm>
          <a:prstGeom xmlns:a="http://schemas.openxmlformats.org/drawingml/2006/main" prst="line">
            <a:avLst/>
          </a:prstGeom>
          <a:noFill xmlns:a="http://schemas.openxmlformats.org/drawingml/2006/main"/>
          <a:ln xmlns:a="http://schemas.openxmlformats.org/drawingml/2006/main" w="10160">
            <a:solidFill>
              <a:srgbClr val="D55E00"/>
            </a:solidFill>
          </a:ln>
        </p:spPr>
      </p:sp>
      <p:sp>
        <p:nvSpPr>
          <p:cNvPr id="83" name="sues_to_university/university1652_satellite_to_drone/full/official_trapezoid_mAP/sd-cap-right">
            <a:extLst xmlns:a="http://schemas.openxmlformats.org/drawingml/2006/main">
              <a:ext uri="{FF2B5EF4-FFF2-40B4-BE49-F238E27FC236}">
                <a16:creationId xmlns:a16="http://schemas.microsoft.com/office/drawing/2014/main" id="{5E7D3304-F0C9-4066-907D-D7763CB37BD5}"/>
              </a:ext>
            </a:extLst>
          </p:cNvPr>
          <p:cNvSpPr>
            <a:spLocks xmlns:a="http://schemas.openxmlformats.org/drawingml/2006/main" noGrp="1"/>
          </p:cNvSpPr>
          <p:nvPr/>
        </p:nvSpPr>
        <p:spPr>
          <a:xfrm xmlns:a="http://schemas.openxmlformats.org/drawingml/2006/main" flipV="0">
            <a:off x="3695012" y="2284730"/>
            <a:ext cx="0" cy="53340"/>
          </a:xfrm>
          <a:prstGeom xmlns:a="http://schemas.openxmlformats.org/drawingml/2006/main" prst="line">
            <a:avLst/>
          </a:prstGeom>
          <a:noFill xmlns:a="http://schemas.openxmlformats.org/drawingml/2006/main"/>
          <a:ln xmlns:a="http://schemas.openxmlformats.org/drawingml/2006/main" w="10160">
            <a:solidFill>
              <a:srgbClr val="D55E00"/>
            </a:solidFill>
          </a:ln>
        </p:spPr>
      </p:sp>
      <p:sp>
        <p:nvSpPr>
          <p:cNvPr id="84" name="sues_to_university/university1652_satellite_to_drone/full/official_trapezoid_mAP/mean">
            <a:extLst xmlns:a="http://schemas.openxmlformats.org/drawingml/2006/main">
              <a:ext uri="{FF2B5EF4-FFF2-40B4-BE49-F238E27FC236}">
                <a16:creationId xmlns:a16="http://schemas.microsoft.com/office/drawing/2014/main" id="{B671AC2B-4546-4BD3-95B5-1E9B42523D99}"/>
              </a:ext>
            </a:extLst>
          </p:cNvPr>
          <p:cNvSpPr>
            <a:spLocks xmlns:a="http://schemas.openxmlformats.org/drawingml/2006/main" noGrp="1"/>
          </p:cNvSpPr>
          <p:nvPr/>
        </p:nvSpPr>
        <p:spPr>
          <a:xfrm xmlns:a="http://schemas.openxmlformats.org/drawingml/2006/main">
            <a:off x="3639914" y="2288540"/>
            <a:ext cx="45720" cy="45720"/>
          </a:xfrm>
          <a:prstGeom xmlns:a="http://schemas.openxmlformats.org/drawingml/2006/main" prst="rect">
            <a:avLst/>
          </a:prstGeom>
          <a:solidFill xmlns:a="http://schemas.openxmlformats.org/drawingml/2006/main">
            <a:srgbClr val="D55E00"/>
          </a:solidFill>
          <a:ln xmlns:a="http://schemas.openxmlformats.org/drawingml/2006/main" w="0">
            <a:noFill/>
          </a:ln>
        </p:spPr>
      </p:sp>
      <p:sp>
        <p:nvSpPr>
          <p:cNvPr id="85" name="sues_to_university/university1652_satellite_to_drone/full/official_trapezoid_mAP/value">
            <a:extLst xmlns:a="http://schemas.openxmlformats.org/drawingml/2006/main">
              <a:ext uri="{FF2B5EF4-FFF2-40B4-BE49-F238E27FC236}">
                <a16:creationId xmlns:a16="http://schemas.microsoft.com/office/drawing/2014/main" id="{C738F965-3212-4180-A51F-D295E292DFF9}"/>
              </a:ext>
            </a:extLst>
          </p:cNvPr>
          <p:cNvSpPr>
            <a:spLocks xmlns:a="http://schemas.openxmlformats.org/drawingml/2006/main" noGrp="1"/>
          </p:cNvSpPr>
          <p:nvPr/>
        </p:nvSpPr>
        <p:spPr>
          <a:xfrm xmlns:a="http://schemas.openxmlformats.org/drawingml/2006/main">
            <a:off x="3571399" y="2357628"/>
            <a:ext cx="629602"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D55E00"/>
                </a:solidFill>
                <a:latin typeface="Arial"/>
                <a:ea typeface="Arial"/>
                <a:cs typeface="Arial"/>
              </a:defRPr>
            </a:pPr>
            <a:r>
              <a:rPr sz="800" b="0">
                <a:solidFill>
                  <a:srgbClr val="D55E00"/>
                </a:solidFill>
                <a:latin typeface="Arial"/>
                <a:ea typeface="Arial"/>
                <a:cs typeface="Arial"/>
              </a:rPr>
              <a:t>6.967 ± 0.438</a:t>
            </a:r>
          </a:p>
        </p:txBody>
      </p:sp>
      <p:sp>
        <p:nvSpPr>
          <p:cNvPr id="86" name="sues_to_university/university1652_street_to_satellite/visual/official_trapezoid_mAP/sd-line">
            <a:extLst xmlns:a="http://schemas.openxmlformats.org/drawingml/2006/main">
              <a:ext uri="{FF2B5EF4-FFF2-40B4-BE49-F238E27FC236}">
                <a16:creationId xmlns:a16="http://schemas.microsoft.com/office/drawing/2014/main" id="{37A8A723-6A7C-4355-B4E9-5C7FA6AC9A7C}"/>
              </a:ext>
            </a:extLst>
          </p:cNvPr>
          <p:cNvSpPr>
            <a:spLocks xmlns:a="http://schemas.openxmlformats.org/drawingml/2006/main" noGrp="1"/>
          </p:cNvSpPr>
          <p:nvPr/>
        </p:nvSpPr>
        <p:spPr>
          <a:xfrm xmlns:a="http://schemas.openxmlformats.org/drawingml/2006/main" flipV="0">
            <a:off x="3193154" y="2641600"/>
            <a:ext cx="16548" cy="0"/>
          </a:xfrm>
          <a:prstGeom xmlns:a="http://schemas.openxmlformats.org/drawingml/2006/main" prst="line">
            <a:avLst/>
          </a:prstGeom>
          <a:noFill xmlns:a="http://schemas.openxmlformats.org/drawingml/2006/main"/>
          <a:ln xmlns:a="http://schemas.openxmlformats.org/drawingml/2006/main" w="11430">
            <a:solidFill>
              <a:srgbClr val="0072B2"/>
            </a:solidFill>
          </a:ln>
        </p:spPr>
      </p:sp>
      <p:sp>
        <p:nvSpPr>
          <p:cNvPr id="87" name="sues_to_university/university1652_street_to_satellite/visual/official_trapezoid_mAP/sd-cap-left">
            <a:extLst xmlns:a="http://schemas.openxmlformats.org/drawingml/2006/main">
              <a:ext uri="{FF2B5EF4-FFF2-40B4-BE49-F238E27FC236}">
                <a16:creationId xmlns:a16="http://schemas.microsoft.com/office/drawing/2014/main" id="{369ACDB6-A7DB-4081-8C81-D383AA7B9696}"/>
              </a:ext>
            </a:extLst>
          </p:cNvPr>
          <p:cNvSpPr>
            <a:spLocks xmlns:a="http://schemas.openxmlformats.org/drawingml/2006/main" noGrp="1"/>
          </p:cNvSpPr>
          <p:nvPr/>
        </p:nvSpPr>
        <p:spPr>
          <a:xfrm xmlns:a="http://schemas.openxmlformats.org/drawingml/2006/main" flipV="0">
            <a:off x="3193154" y="2614930"/>
            <a:ext cx="0" cy="53340"/>
          </a:xfrm>
          <a:prstGeom xmlns:a="http://schemas.openxmlformats.org/drawingml/2006/main" prst="line">
            <a:avLst/>
          </a:prstGeom>
          <a:noFill xmlns:a="http://schemas.openxmlformats.org/drawingml/2006/main"/>
          <a:ln xmlns:a="http://schemas.openxmlformats.org/drawingml/2006/main" w="10160">
            <a:solidFill>
              <a:srgbClr val="0072B2"/>
            </a:solidFill>
          </a:ln>
        </p:spPr>
      </p:sp>
      <p:sp>
        <p:nvSpPr>
          <p:cNvPr id="88" name="sues_to_university/university1652_street_to_satellite/visual/official_trapezoid_mAP/sd-cap-right">
            <a:extLst xmlns:a="http://schemas.openxmlformats.org/drawingml/2006/main">
              <a:ext uri="{FF2B5EF4-FFF2-40B4-BE49-F238E27FC236}">
                <a16:creationId xmlns:a16="http://schemas.microsoft.com/office/drawing/2014/main" id="{C53E3638-3F55-49DD-A1A8-8644E82CAAAD}"/>
              </a:ext>
            </a:extLst>
          </p:cNvPr>
          <p:cNvSpPr>
            <a:spLocks xmlns:a="http://schemas.openxmlformats.org/drawingml/2006/main" noGrp="1"/>
          </p:cNvSpPr>
          <p:nvPr/>
        </p:nvSpPr>
        <p:spPr>
          <a:xfrm xmlns:a="http://schemas.openxmlformats.org/drawingml/2006/main" flipV="0">
            <a:off x="3209702" y="2614930"/>
            <a:ext cx="0" cy="53340"/>
          </a:xfrm>
          <a:prstGeom xmlns:a="http://schemas.openxmlformats.org/drawingml/2006/main" prst="line">
            <a:avLst/>
          </a:prstGeom>
          <a:noFill xmlns:a="http://schemas.openxmlformats.org/drawingml/2006/main"/>
          <a:ln xmlns:a="http://schemas.openxmlformats.org/drawingml/2006/main" w="10160">
            <a:solidFill>
              <a:srgbClr val="0072B2"/>
            </a:solidFill>
          </a:ln>
        </p:spPr>
      </p:sp>
      <p:sp>
        <p:nvSpPr>
          <p:cNvPr id="89" name="sues_to_university/university1652_street_to_satellite/visual/official_trapezoid_mAP/mean">
            <a:extLst xmlns:a="http://schemas.openxmlformats.org/drawingml/2006/main">
              <a:ext uri="{FF2B5EF4-FFF2-40B4-BE49-F238E27FC236}">
                <a16:creationId xmlns:a16="http://schemas.microsoft.com/office/drawing/2014/main" id="{CDED6C11-869F-488D-BBF6-00A30B184326}"/>
              </a:ext>
            </a:extLst>
          </p:cNvPr>
          <p:cNvSpPr>
            <a:spLocks xmlns:a="http://schemas.openxmlformats.org/drawingml/2006/main" noGrp="1"/>
          </p:cNvSpPr>
          <p:nvPr/>
        </p:nvSpPr>
        <p:spPr>
          <a:xfrm xmlns:a="http://schemas.openxmlformats.org/drawingml/2006/main">
            <a:off x="3178568" y="2618740"/>
            <a:ext cx="45720" cy="45720"/>
          </a:xfrm>
          <a:prstGeom xmlns:a="http://schemas.openxmlformats.org/drawingml/2006/main" prst="ellipse">
            <a:avLst/>
          </a:prstGeom>
          <a:solidFill xmlns:a="http://schemas.openxmlformats.org/drawingml/2006/main">
            <a:srgbClr val="0072B2"/>
          </a:solidFill>
          <a:ln xmlns:a="http://schemas.openxmlformats.org/drawingml/2006/main" w="0">
            <a:noFill/>
          </a:ln>
        </p:spPr>
      </p:sp>
      <p:sp>
        <p:nvSpPr>
          <p:cNvPr id="90" name="sues_to_university/university1652_street_to_satellite/visual/official_trapezoid_mAP/value">
            <a:extLst xmlns:a="http://schemas.openxmlformats.org/drawingml/2006/main">
              <a:ext uri="{FF2B5EF4-FFF2-40B4-BE49-F238E27FC236}">
                <a16:creationId xmlns:a16="http://schemas.microsoft.com/office/drawing/2014/main" id="{238566F8-6439-4DDA-8097-5237E03BE6BF}"/>
              </a:ext>
            </a:extLst>
          </p:cNvPr>
          <p:cNvSpPr>
            <a:spLocks xmlns:a="http://schemas.openxmlformats.org/drawingml/2006/main" noGrp="1"/>
          </p:cNvSpPr>
          <p:nvPr/>
        </p:nvSpPr>
        <p:spPr>
          <a:xfrm xmlns:a="http://schemas.openxmlformats.org/drawingml/2006/main">
            <a:off x="3575161" y="2687828"/>
            <a:ext cx="62207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0072B2"/>
                </a:solidFill>
                <a:latin typeface="Arial"/>
                <a:ea typeface="Arial"/>
                <a:cs typeface="Arial"/>
              </a:defRPr>
            </a:pPr>
            <a:r>
              <a:rPr sz="800" b="0">
                <a:solidFill>
                  <a:srgbClr val="0072B2"/>
                </a:solidFill>
                <a:latin typeface="Arial"/>
                <a:ea typeface="Arial"/>
                <a:cs typeface="Arial"/>
              </a:rPr>
              <a:t>0.704 ± 0.112</a:t>
            </a:r>
          </a:p>
        </p:txBody>
      </p:sp>
      <p:sp>
        <p:nvSpPr>
          <p:cNvPr id="91" name="sues_to_university/university1652_street_to_satellite/full/official_trapezoid_mAP/sd-line">
            <a:extLst xmlns:a="http://schemas.openxmlformats.org/drawingml/2006/main">
              <a:ext uri="{FF2B5EF4-FFF2-40B4-BE49-F238E27FC236}">
                <a16:creationId xmlns:a16="http://schemas.microsoft.com/office/drawing/2014/main" id="{1FF3893D-58C0-42DB-A278-67FEBE95997A}"/>
              </a:ext>
            </a:extLst>
          </p:cNvPr>
          <p:cNvSpPr>
            <a:spLocks xmlns:a="http://schemas.openxmlformats.org/drawingml/2006/main" noGrp="1"/>
          </p:cNvSpPr>
          <p:nvPr/>
        </p:nvSpPr>
        <p:spPr>
          <a:xfrm xmlns:a="http://schemas.openxmlformats.org/drawingml/2006/main" flipV="0">
            <a:off x="3201017" y="2895600"/>
            <a:ext cx="6689" cy="0"/>
          </a:xfrm>
          <a:prstGeom xmlns:a="http://schemas.openxmlformats.org/drawingml/2006/main" prst="line">
            <a:avLst/>
          </a:prstGeom>
          <a:noFill xmlns:a="http://schemas.openxmlformats.org/drawingml/2006/main"/>
          <a:ln xmlns:a="http://schemas.openxmlformats.org/drawingml/2006/main" w="11430">
            <a:solidFill>
              <a:srgbClr val="D55E00"/>
            </a:solidFill>
          </a:ln>
        </p:spPr>
      </p:sp>
      <p:sp>
        <p:nvSpPr>
          <p:cNvPr id="92" name="sues_to_university/university1652_street_to_satellite/full/official_trapezoid_mAP/sd-cap-left">
            <a:extLst xmlns:a="http://schemas.openxmlformats.org/drawingml/2006/main">
              <a:ext uri="{FF2B5EF4-FFF2-40B4-BE49-F238E27FC236}">
                <a16:creationId xmlns:a16="http://schemas.microsoft.com/office/drawing/2014/main" id="{6F85B3BE-F45D-432A-A8A8-74A3072DCA75}"/>
              </a:ext>
            </a:extLst>
          </p:cNvPr>
          <p:cNvSpPr>
            <a:spLocks xmlns:a="http://schemas.openxmlformats.org/drawingml/2006/main" noGrp="1"/>
          </p:cNvSpPr>
          <p:nvPr/>
        </p:nvSpPr>
        <p:spPr>
          <a:xfrm xmlns:a="http://schemas.openxmlformats.org/drawingml/2006/main" flipV="0">
            <a:off x="3201017" y="2868930"/>
            <a:ext cx="0" cy="53340"/>
          </a:xfrm>
          <a:prstGeom xmlns:a="http://schemas.openxmlformats.org/drawingml/2006/main" prst="line">
            <a:avLst/>
          </a:prstGeom>
          <a:noFill xmlns:a="http://schemas.openxmlformats.org/drawingml/2006/main"/>
          <a:ln xmlns:a="http://schemas.openxmlformats.org/drawingml/2006/main" w="10160">
            <a:solidFill>
              <a:srgbClr val="D55E00"/>
            </a:solidFill>
          </a:ln>
        </p:spPr>
      </p:sp>
      <p:sp>
        <p:nvSpPr>
          <p:cNvPr id="93" name="sues_to_university/university1652_street_to_satellite/full/official_trapezoid_mAP/sd-cap-right">
            <a:extLst xmlns:a="http://schemas.openxmlformats.org/drawingml/2006/main">
              <a:ext uri="{FF2B5EF4-FFF2-40B4-BE49-F238E27FC236}">
                <a16:creationId xmlns:a16="http://schemas.microsoft.com/office/drawing/2014/main" id="{16FBF7CC-8850-4809-9E26-9299F2ECCA94}"/>
              </a:ext>
            </a:extLst>
          </p:cNvPr>
          <p:cNvSpPr>
            <a:spLocks xmlns:a="http://schemas.openxmlformats.org/drawingml/2006/main" noGrp="1"/>
          </p:cNvSpPr>
          <p:nvPr/>
        </p:nvSpPr>
        <p:spPr>
          <a:xfrm xmlns:a="http://schemas.openxmlformats.org/drawingml/2006/main" flipV="0">
            <a:off x="3207705" y="2868930"/>
            <a:ext cx="0" cy="53340"/>
          </a:xfrm>
          <a:prstGeom xmlns:a="http://schemas.openxmlformats.org/drawingml/2006/main" prst="line">
            <a:avLst/>
          </a:prstGeom>
          <a:noFill xmlns:a="http://schemas.openxmlformats.org/drawingml/2006/main"/>
          <a:ln xmlns:a="http://schemas.openxmlformats.org/drawingml/2006/main" w="10160">
            <a:solidFill>
              <a:srgbClr val="D55E00"/>
            </a:solidFill>
          </a:ln>
        </p:spPr>
      </p:sp>
      <p:sp>
        <p:nvSpPr>
          <p:cNvPr id="94" name="sues_to_university/university1652_street_to_satellite/full/official_trapezoid_mAP/mean">
            <a:extLst xmlns:a="http://schemas.openxmlformats.org/drawingml/2006/main">
              <a:ext uri="{FF2B5EF4-FFF2-40B4-BE49-F238E27FC236}">
                <a16:creationId xmlns:a16="http://schemas.microsoft.com/office/drawing/2014/main" id="{CF4EFB44-4E6C-4AA2-85DC-BAB408A381B8}"/>
              </a:ext>
            </a:extLst>
          </p:cNvPr>
          <p:cNvSpPr>
            <a:spLocks xmlns:a="http://schemas.openxmlformats.org/drawingml/2006/main" noGrp="1"/>
          </p:cNvSpPr>
          <p:nvPr/>
        </p:nvSpPr>
        <p:spPr>
          <a:xfrm xmlns:a="http://schemas.openxmlformats.org/drawingml/2006/main">
            <a:off x="3181501" y="2872740"/>
            <a:ext cx="45720" cy="45720"/>
          </a:xfrm>
          <a:prstGeom xmlns:a="http://schemas.openxmlformats.org/drawingml/2006/main" prst="rect">
            <a:avLst/>
          </a:prstGeom>
          <a:solidFill xmlns:a="http://schemas.openxmlformats.org/drawingml/2006/main">
            <a:srgbClr val="D55E00"/>
          </a:solidFill>
          <a:ln xmlns:a="http://schemas.openxmlformats.org/drawingml/2006/main" w="0">
            <a:noFill/>
          </a:ln>
        </p:spPr>
      </p:sp>
      <p:sp>
        <p:nvSpPr>
          <p:cNvPr id="95" name="sues_to_university/university1652_street_to_satellite/full/official_trapezoid_mAP/value">
            <a:extLst xmlns:a="http://schemas.openxmlformats.org/drawingml/2006/main">
              <a:ext uri="{FF2B5EF4-FFF2-40B4-BE49-F238E27FC236}">
                <a16:creationId xmlns:a16="http://schemas.microsoft.com/office/drawing/2014/main" id="{8564C4BE-1AF9-4071-9F13-FB0F021A6E2F}"/>
              </a:ext>
            </a:extLst>
          </p:cNvPr>
          <p:cNvSpPr>
            <a:spLocks xmlns:a="http://schemas.openxmlformats.org/drawingml/2006/main" noGrp="1"/>
          </p:cNvSpPr>
          <p:nvPr/>
        </p:nvSpPr>
        <p:spPr>
          <a:xfrm xmlns:a="http://schemas.openxmlformats.org/drawingml/2006/main">
            <a:off x="3571399" y="2941828"/>
            <a:ext cx="629602"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D55E00"/>
                </a:solidFill>
                <a:latin typeface="Arial"/>
                <a:ea typeface="Arial"/>
                <a:cs typeface="Arial"/>
              </a:defRPr>
            </a:pPr>
            <a:r>
              <a:rPr sz="800" b="0">
                <a:solidFill>
                  <a:srgbClr val="D55E00"/>
                </a:solidFill>
                <a:latin typeface="Arial"/>
                <a:ea typeface="Arial"/>
                <a:cs typeface="Arial"/>
              </a:rPr>
              <a:t>0.743 ± 0.045</a:t>
            </a:r>
          </a:p>
        </p:txBody>
      </p:sp>
      <p:sp>
        <p:nvSpPr>
          <p:cNvPr id="96" name="sues_to_university/MRR/heading">
            <a:extLst xmlns:a="http://schemas.openxmlformats.org/drawingml/2006/main">
              <a:ext uri="{FF2B5EF4-FFF2-40B4-BE49-F238E27FC236}">
                <a16:creationId xmlns:a16="http://schemas.microsoft.com/office/drawing/2014/main" id="{FCE30609-4B92-4704-93F9-1158B0787B13}"/>
              </a:ext>
            </a:extLst>
          </p:cNvPr>
          <p:cNvSpPr>
            <a:spLocks xmlns:a="http://schemas.openxmlformats.org/drawingml/2006/main" noGrp="1"/>
          </p:cNvSpPr>
          <p:nvPr/>
        </p:nvSpPr>
        <p:spPr>
          <a:xfrm xmlns:a="http://schemas.openxmlformats.org/drawingml/2006/main">
            <a:off x="5241782" y="898144"/>
            <a:ext cx="590836" cy="142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900" b="1">
                <a:solidFill>
                  <a:srgbClr val="222222"/>
                </a:solidFill>
                <a:latin typeface="Arial"/>
                <a:ea typeface="Arial"/>
                <a:cs typeface="Arial"/>
              </a:defRPr>
            </a:pPr>
            <a:r>
              <a:rPr sz="900" b="1">
                <a:solidFill>
                  <a:srgbClr val="222222"/>
                </a:solidFill>
                <a:latin typeface="Arial"/>
                <a:ea typeface="Arial"/>
                <a:cs typeface="Arial"/>
              </a:rPr>
              <a:t>MRR × 100</a:t>
            </a:r>
          </a:p>
        </p:txBody>
      </p:sp>
      <p:sp>
        <p:nvSpPr>
          <p:cNvPr id="97" name="sues_to_university/MRR/grid/0">
            <a:extLst xmlns:a="http://schemas.openxmlformats.org/drawingml/2006/main">
              <a:ext uri="{FF2B5EF4-FFF2-40B4-BE49-F238E27FC236}">
                <a16:creationId xmlns:a16="http://schemas.microsoft.com/office/drawing/2014/main" id="{50BC71F8-5882-480B-A8F0-D760F3FD0026}"/>
              </a:ext>
            </a:extLst>
          </p:cNvPr>
          <p:cNvSpPr>
            <a:spLocks xmlns:a="http://schemas.openxmlformats.org/drawingml/2006/main" noGrp="1"/>
          </p:cNvSpPr>
          <p:nvPr/>
        </p:nvSpPr>
        <p:spPr>
          <a:xfrm xmlns:a="http://schemas.openxmlformats.org/drawingml/2006/main" flipV="0">
            <a:off x="4800600" y="1320800"/>
            <a:ext cx="0" cy="1866900"/>
          </a:xfrm>
          <a:prstGeom xmlns:a="http://schemas.openxmlformats.org/drawingml/2006/main" prst="line">
            <a:avLst/>
          </a:prstGeom>
          <a:noFill xmlns:a="http://schemas.openxmlformats.org/drawingml/2006/main"/>
          <a:ln xmlns:a="http://schemas.openxmlformats.org/drawingml/2006/main" w="5080">
            <a:solidFill>
              <a:srgbClr val="E4E8ED"/>
            </a:solidFill>
          </a:ln>
        </p:spPr>
      </p:sp>
      <p:sp>
        <p:nvSpPr>
          <p:cNvPr id="98" name="sues_to_university/MRR/tick/0">
            <a:extLst xmlns:a="http://schemas.openxmlformats.org/drawingml/2006/main">
              <a:ext uri="{FF2B5EF4-FFF2-40B4-BE49-F238E27FC236}">
                <a16:creationId xmlns:a16="http://schemas.microsoft.com/office/drawing/2014/main" id="{064BC151-02EF-404C-BCF8-1340648D902D}"/>
              </a:ext>
            </a:extLst>
          </p:cNvPr>
          <p:cNvSpPr>
            <a:spLocks xmlns:a="http://schemas.openxmlformats.org/drawingml/2006/main" noGrp="1"/>
          </p:cNvSpPr>
          <p:nvPr/>
        </p:nvSpPr>
        <p:spPr>
          <a:xfrm xmlns:a="http://schemas.openxmlformats.org/drawingml/2006/main" flipV="0">
            <a:off x="4800600" y="1295400"/>
            <a:ext cx="0" cy="25400"/>
          </a:xfrm>
          <a:prstGeom xmlns:a="http://schemas.openxmlformats.org/drawingml/2006/main" prst="line">
            <a:avLst/>
          </a:prstGeom>
          <a:noFill xmlns:a="http://schemas.openxmlformats.org/drawingml/2006/main"/>
          <a:ln xmlns:a="http://schemas.openxmlformats.org/drawingml/2006/main" w="7620">
            <a:solidFill>
              <a:srgbClr val="444444"/>
            </a:solidFill>
          </a:ln>
        </p:spPr>
      </p:sp>
      <p:sp>
        <p:nvSpPr>
          <p:cNvPr id="99" name="sues_to_university/MRR/tick-label/0">
            <a:extLst xmlns:a="http://schemas.openxmlformats.org/drawingml/2006/main">
              <a:ext uri="{FF2B5EF4-FFF2-40B4-BE49-F238E27FC236}">
                <a16:creationId xmlns:a16="http://schemas.microsoft.com/office/drawing/2014/main" id="{243A2986-CF6A-4AE8-B194-F3A7D851FA36}"/>
              </a:ext>
            </a:extLst>
          </p:cNvPr>
          <p:cNvSpPr>
            <a:spLocks xmlns:a="http://schemas.openxmlformats.org/drawingml/2006/main" noGrp="1"/>
          </p:cNvSpPr>
          <p:nvPr/>
        </p:nvSpPr>
        <p:spPr>
          <a:xfrm xmlns:a="http://schemas.openxmlformats.org/drawingml/2006/main">
            <a:off x="4767596" y="11892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0</a:t>
            </a:r>
          </a:p>
        </p:txBody>
      </p:sp>
      <p:sp>
        <p:nvSpPr>
          <p:cNvPr id="100" name="sues_to_university/MRR/grid/10">
            <a:extLst xmlns:a="http://schemas.openxmlformats.org/drawingml/2006/main">
              <a:ext uri="{FF2B5EF4-FFF2-40B4-BE49-F238E27FC236}">
                <a16:creationId xmlns:a16="http://schemas.microsoft.com/office/drawing/2014/main" id="{7493431F-1380-49CF-B357-AE760C227C44}"/>
              </a:ext>
            </a:extLst>
          </p:cNvPr>
          <p:cNvSpPr>
            <a:spLocks xmlns:a="http://schemas.openxmlformats.org/drawingml/2006/main" noGrp="1"/>
          </p:cNvSpPr>
          <p:nvPr/>
        </p:nvSpPr>
        <p:spPr>
          <a:xfrm xmlns:a="http://schemas.openxmlformats.org/drawingml/2006/main" flipV="0">
            <a:off x="5168900" y="1320800"/>
            <a:ext cx="0" cy="1866900"/>
          </a:xfrm>
          <a:prstGeom xmlns:a="http://schemas.openxmlformats.org/drawingml/2006/main" prst="line">
            <a:avLst/>
          </a:prstGeom>
          <a:noFill xmlns:a="http://schemas.openxmlformats.org/drawingml/2006/main"/>
          <a:ln xmlns:a="http://schemas.openxmlformats.org/drawingml/2006/main" w="5080">
            <a:solidFill>
              <a:srgbClr val="E4E8ED"/>
            </a:solidFill>
          </a:ln>
        </p:spPr>
      </p:sp>
      <p:sp>
        <p:nvSpPr>
          <p:cNvPr id="101" name="sues_to_university/MRR/tick/10">
            <a:extLst xmlns:a="http://schemas.openxmlformats.org/drawingml/2006/main">
              <a:ext uri="{FF2B5EF4-FFF2-40B4-BE49-F238E27FC236}">
                <a16:creationId xmlns:a16="http://schemas.microsoft.com/office/drawing/2014/main" id="{A886C5DA-F4E6-49EE-BB98-03599557D23D}"/>
              </a:ext>
            </a:extLst>
          </p:cNvPr>
          <p:cNvSpPr>
            <a:spLocks xmlns:a="http://schemas.openxmlformats.org/drawingml/2006/main" noGrp="1"/>
          </p:cNvSpPr>
          <p:nvPr/>
        </p:nvSpPr>
        <p:spPr>
          <a:xfrm xmlns:a="http://schemas.openxmlformats.org/drawingml/2006/main" flipV="0">
            <a:off x="5168900" y="1295400"/>
            <a:ext cx="0" cy="25400"/>
          </a:xfrm>
          <a:prstGeom xmlns:a="http://schemas.openxmlformats.org/drawingml/2006/main" prst="line">
            <a:avLst/>
          </a:prstGeom>
          <a:noFill xmlns:a="http://schemas.openxmlformats.org/drawingml/2006/main"/>
          <a:ln xmlns:a="http://schemas.openxmlformats.org/drawingml/2006/main" w="7620">
            <a:solidFill>
              <a:srgbClr val="444444"/>
            </a:solidFill>
          </a:ln>
        </p:spPr>
      </p:sp>
      <p:sp>
        <p:nvSpPr>
          <p:cNvPr id="102" name="sues_to_university/MRR/tick-label/10">
            <a:extLst xmlns:a="http://schemas.openxmlformats.org/drawingml/2006/main">
              <a:ext uri="{FF2B5EF4-FFF2-40B4-BE49-F238E27FC236}">
                <a16:creationId xmlns:a16="http://schemas.microsoft.com/office/drawing/2014/main" id="{CA910055-26B9-4303-B21B-78EBB44A4B62}"/>
              </a:ext>
            </a:extLst>
          </p:cNvPr>
          <p:cNvSpPr>
            <a:spLocks xmlns:a="http://schemas.openxmlformats.org/drawingml/2006/main" noGrp="1"/>
          </p:cNvSpPr>
          <p:nvPr/>
        </p:nvSpPr>
        <p:spPr>
          <a:xfrm xmlns:a="http://schemas.openxmlformats.org/drawingml/2006/main">
            <a:off x="5107702" y="1189228"/>
            <a:ext cx="12239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10</a:t>
            </a:r>
          </a:p>
        </p:txBody>
      </p:sp>
      <p:sp>
        <p:nvSpPr>
          <p:cNvPr id="103" name="sues_to_university/MRR/grid/20">
            <a:extLst xmlns:a="http://schemas.openxmlformats.org/drawingml/2006/main">
              <a:ext uri="{FF2B5EF4-FFF2-40B4-BE49-F238E27FC236}">
                <a16:creationId xmlns:a16="http://schemas.microsoft.com/office/drawing/2014/main" id="{580819FC-57D5-4B05-ACBF-7E7A899CA0CA}"/>
              </a:ext>
            </a:extLst>
          </p:cNvPr>
          <p:cNvSpPr>
            <a:spLocks xmlns:a="http://schemas.openxmlformats.org/drawingml/2006/main" noGrp="1"/>
          </p:cNvSpPr>
          <p:nvPr/>
        </p:nvSpPr>
        <p:spPr>
          <a:xfrm xmlns:a="http://schemas.openxmlformats.org/drawingml/2006/main" flipV="0">
            <a:off x="5537200" y="1320800"/>
            <a:ext cx="0" cy="1866900"/>
          </a:xfrm>
          <a:prstGeom xmlns:a="http://schemas.openxmlformats.org/drawingml/2006/main" prst="line">
            <a:avLst/>
          </a:prstGeom>
          <a:noFill xmlns:a="http://schemas.openxmlformats.org/drawingml/2006/main"/>
          <a:ln xmlns:a="http://schemas.openxmlformats.org/drawingml/2006/main" w="5080">
            <a:solidFill>
              <a:srgbClr val="E4E8ED"/>
            </a:solidFill>
          </a:ln>
        </p:spPr>
      </p:sp>
      <p:sp>
        <p:nvSpPr>
          <p:cNvPr id="104" name="sues_to_university/MRR/tick/20">
            <a:extLst xmlns:a="http://schemas.openxmlformats.org/drawingml/2006/main">
              <a:ext uri="{FF2B5EF4-FFF2-40B4-BE49-F238E27FC236}">
                <a16:creationId xmlns:a16="http://schemas.microsoft.com/office/drawing/2014/main" id="{87CB5B8F-D477-4E85-9DAA-954E9CA0712F}"/>
              </a:ext>
            </a:extLst>
          </p:cNvPr>
          <p:cNvSpPr>
            <a:spLocks xmlns:a="http://schemas.openxmlformats.org/drawingml/2006/main" noGrp="1"/>
          </p:cNvSpPr>
          <p:nvPr/>
        </p:nvSpPr>
        <p:spPr>
          <a:xfrm xmlns:a="http://schemas.openxmlformats.org/drawingml/2006/main" flipV="0">
            <a:off x="5537200" y="1295400"/>
            <a:ext cx="0" cy="25400"/>
          </a:xfrm>
          <a:prstGeom xmlns:a="http://schemas.openxmlformats.org/drawingml/2006/main" prst="line">
            <a:avLst/>
          </a:prstGeom>
          <a:noFill xmlns:a="http://schemas.openxmlformats.org/drawingml/2006/main"/>
          <a:ln xmlns:a="http://schemas.openxmlformats.org/drawingml/2006/main" w="7620">
            <a:solidFill>
              <a:srgbClr val="444444"/>
            </a:solidFill>
          </a:ln>
        </p:spPr>
      </p:sp>
      <p:sp>
        <p:nvSpPr>
          <p:cNvPr id="105" name="sues_to_university/MRR/tick-label/20">
            <a:extLst xmlns:a="http://schemas.openxmlformats.org/drawingml/2006/main">
              <a:ext uri="{FF2B5EF4-FFF2-40B4-BE49-F238E27FC236}">
                <a16:creationId xmlns:a16="http://schemas.microsoft.com/office/drawing/2014/main" id="{F93AFD57-D2EC-4DC0-997E-3AD14455B484}"/>
              </a:ext>
            </a:extLst>
          </p:cNvPr>
          <p:cNvSpPr>
            <a:spLocks xmlns:a="http://schemas.openxmlformats.org/drawingml/2006/main" noGrp="1"/>
          </p:cNvSpPr>
          <p:nvPr/>
        </p:nvSpPr>
        <p:spPr>
          <a:xfrm xmlns:a="http://schemas.openxmlformats.org/drawingml/2006/main">
            <a:off x="5476002" y="1189228"/>
            <a:ext cx="12239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20</a:t>
            </a:r>
          </a:p>
        </p:txBody>
      </p:sp>
      <p:sp>
        <p:nvSpPr>
          <p:cNvPr id="106" name="sues_to_university/MRR/grid/30">
            <a:extLst xmlns:a="http://schemas.openxmlformats.org/drawingml/2006/main">
              <a:ext uri="{FF2B5EF4-FFF2-40B4-BE49-F238E27FC236}">
                <a16:creationId xmlns:a16="http://schemas.microsoft.com/office/drawing/2014/main" id="{C18C1131-BF40-4805-8C96-1B4997C305B2}"/>
              </a:ext>
            </a:extLst>
          </p:cNvPr>
          <p:cNvSpPr>
            <a:spLocks xmlns:a="http://schemas.openxmlformats.org/drawingml/2006/main" noGrp="1"/>
          </p:cNvSpPr>
          <p:nvPr/>
        </p:nvSpPr>
        <p:spPr>
          <a:xfrm xmlns:a="http://schemas.openxmlformats.org/drawingml/2006/main" flipV="0">
            <a:off x="5905500" y="1320800"/>
            <a:ext cx="0" cy="1866900"/>
          </a:xfrm>
          <a:prstGeom xmlns:a="http://schemas.openxmlformats.org/drawingml/2006/main" prst="line">
            <a:avLst/>
          </a:prstGeom>
          <a:noFill xmlns:a="http://schemas.openxmlformats.org/drawingml/2006/main"/>
          <a:ln xmlns:a="http://schemas.openxmlformats.org/drawingml/2006/main" w="5080">
            <a:solidFill>
              <a:srgbClr val="E4E8ED"/>
            </a:solidFill>
          </a:ln>
        </p:spPr>
      </p:sp>
      <p:sp>
        <p:nvSpPr>
          <p:cNvPr id="107" name="sues_to_university/MRR/tick/30">
            <a:extLst xmlns:a="http://schemas.openxmlformats.org/drawingml/2006/main">
              <a:ext uri="{FF2B5EF4-FFF2-40B4-BE49-F238E27FC236}">
                <a16:creationId xmlns:a16="http://schemas.microsoft.com/office/drawing/2014/main" id="{5E28BECD-CC1F-4175-946E-2450AFC482AF}"/>
              </a:ext>
            </a:extLst>
          </p:cNvPr>
          <p:cNvSpPr>
            <a:spLocks xmlns:a="http://schemas.openxmlformats.org/drawingml/2006/main" noGrp="1"/>
          </p:cNvSpPr>
          <p:nvPr/>
        </p:nvSpPr>
        <p:spPr>
          <a:xfrm xmlns:a="http://schemas.openxmlformats.org/drawingml/2006/main" flipV="0">
            <a:off x="5905500" y="1295400"/>
            <a:ext cx="0" cy="25400"/>
          </a:xfrm>
          <a:prstGeom xmlns:a="http://schemas.openxmlformats.org/drawingml/2006/main" prst="line">
            <a:avLst/>
          </a:prstGeom>
          <a:noFill xmlns:a="http://schemas.openxmlformats.org/drawingml/2006/main"/>
          <a:ln xmlns:a="http://schemas.openxmlformats.org/drawingml/2006/main" w="7620">
            <a:solidFill>
              <a:srgbClr val="444444"/>
            </a:solidFill>
          </a:ln>
        </p:spPr>
      </p:sp>
      <p:sp>
        <p:nvSpPr>
          <p:cNvPr id="108" name="sues_to_university/MRR/tick-label/30">
            <a:extLst xmlns:a="http://schemas.openxmlformats.org/drawingml/2006/main">
              <a:ext uri="{FF2B5EF4-FFF2-40B4-BE49-F238E27FC236}">
                <a16:creationId xmlns:a16="http://schemas.microsoft.com/office/drawing/2014/main" id="{DD874474-1C17-4AC4-A4C6-5B76596B740C}"/>
              </a:ext>
            </a:extLst>
          </p:cNvPr>
          <p:cNvSpPr>
            <a:spLocks xmlns:a="http://schemas.openxmlformats.org/drawingml/2006/main" noGrp="1"/>
          </p:cNvSpPr>
          <p:nvPr/>
        </p:nvSpPr>
        <p:spPr>
          <a:xfrm xmlns:a="http://schemas.openxmlformats.org/drawingml/2006/main">
            <a:off x="5844302" y="1189228"/>
            <a:ext cx="12239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30</a:t>
            </a:r>
          </a:p>
        </p:txBody>
      </p:sp>
      <p:sp>
        <p:nvSpPr>
          <p:cNvPr id="109" name="sues_to_university/MRR/grid/40">
            <a:extLst xmlns:a="http://schemas.openxmlformats.org/drawingml/2006/main">
              <a:ext uri="{FF2B5EF4-FFF2-40B4-BE49-F238E27FC236}">
                <a16:creationId xmlns:a16="http://schemas.microsoft.com/office/drawing/2014/main" id="{A70E4B14-AC50-45EF-99F7-6C71ECAFAF6D}"/>
              </a:ext>
            </a:extLst>
          </p:cNvPr>
          <p:cNvSpPr>
            <a:spLocks xmlns:a="http://schemas.openxmlformats.org/drawingml/2006/main" noGrp="1"/>
          </p:cNvSpPr>
          <p:nvPr/>
        </p:nvSpPr>
        <p:spPr>
          <a:xfrm xmlns:a="http://schemas.openxmlformats.org/drawingml/2006/main" flipV="0">
            <a:off x="6273800" y="1320800"/>
            <a:ext cx="0" cy="1866900"/>
          </a:xfrm>
          <a:prstGeom xmlns:a="http://schemas.openxmlformats.org/drawingml/2006/main" prst="line">
            <a:avLst/>
          </a:prstGeom>
          <a:noFill xmlns:a="http://schemas.openxmlformats.org/drawingml/2006/main"/>
          <a:ln xmlns:a="http://schemas.openxmlformats.org/drawingml/2006/main" w="5080">
            <a:solidFill>
              <a:srgbClr val="E4E8ED"/>
            </a:solidFill>
          </a:ln>
        </p:spPr>
      </p:sp>
      <p:sp>
        <p:nvSpPr>
          <p:cNvPr id="110" name="sues_to_university/MRR/tick/40">
            <a:extLst xmlns:a="http://schemas.openxmlformats.org/drawingml/2006/main">
              <a:ext uri="{FF2B5EF4-FFF2-40B4-BE49-F238E27FC236}">
                <a16:creationId xmlns:a16="http://schemas.microsoft.com/office/drawing/2014/main" id="{B9322473-D4EC-4922-AF72-3B0DB153D7BF}"/>
              </a:ext>
            </a:extLst>
          </p:cNvPr>
          <p:cNvSpPr>
            <a:spLocks xmlns:a="http://schemas.openxmlformats.org/drawingml/2006/main" noGrp="1"/>
          </p:cNvSpPr>
          <p:nvPr/>
        </p:nvSpPr>
        <p:spPr>
          <a:xfrm xmlns:a="http://schemas.openxmlformats.org/drawingml/2006/main" flipV="0">
            <a:off x="6273800" y="1295400"/>
            <a:ext cx="0" cy="25400"/>
          </a:xfrm>
          <a:prstGeom xmlns:a="http://schemas.openxmlformats.org/drawingml/2006/main" prst="line">
            <a:avLst/>
          </a:prstGeom>
          <a:noFill xmlns:a="http://schemas.openxmlformats.org/drawingml/2006/main"/>
          <a:ln xmlns:a="http://schemas.openxmlformats.org/drawingml/2006/main" w="7620">
            <a:solidFill>
              <a:srgbClr val="444444"/>
            </a:solidFill>
          </a:ln>
        </p:spPr>
      </p:sp>
      <p:sp>
        <p:nvSpPr>
          <p:cNvPr id="111" name="sues_to_university/MRR/tick-label/40">
            <a:extLst xmlns:a="http://schemas.openxmlformats.org/drawingml/2006/main">
              <a:ext uri="{FF2B5EF4-FFF2-40B4-BE49-F238E27FC236}">
                <a16:creationId xmlns:a16="http://schemas.microsoft.com/office/drawing/2014/main" id="{9C211EAB-B2B8-4277-A5E0-019E619A97E6}"/>
              </a:ext>
            </a:extLst>
          </p:cNvPr>
          <p:cNvSpPr>
            <a:spLocks xmlns:a="http://schemas.openxmlformats.org/drawingml/2006/main" noGrp="1"/>
          </p:cNvSpPr>
          <p:nvPr/>
        </p:nvSpPr>
        <p:spPr>
          <a:xfrm xmlns:a="http://schemas.openxmlformats.org/drawingml/2006/main">
            <a:off x="6212602" y="1189228"/>
            <a:ext cx="12239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40</a:t>
            </a:r>
          </a:p>
        </p:txBody>
      </p:sp>
      <p:sp>
        <p:nvSpPr>
          <p:cNvPr id="112" name="sues_to_university/MRR/axis">
            <a:extLst xmlns:a="http://schemas.openxmlformats.org/drawingml/2006/main">
              <a:ext uri="{FF2B5EF4-FFF2-40B4-BE49-F238E27FC236}">
                <a16:creationId xmlns:a16="http://schemas.microsoft.com/office/drawing/2014/main" id="{0D7A87A1-0D96-41B4-AD50-80582E32475C}"/>
              </a:ext>
            </a:extLst>
          </p:cNvPr>
          <p:cNvSpPr>
            <a:spLocks xmlns:a="http://schemas.openxmlformats.org/drawingml/2006/main" noGrp="1"/>
          </p:cNvSpPr>
          <p:nvPr/>
        </p:nvSpPr>
        <p:spPr>
          <a:xfrm xmlns:a="http://schemas.openxmlformats.org/drawingml/2006/main" flipV="0">
            <a:off x="4800600" y="1320800"/>
            <a:ext cx="1473200" cy="0"/>
          </a:xfrm>
          <a:prstGeom xmlns:a="http://schemas.openxmlformats.org/drawingml/2006/main" prst="line">
            <a:avLst/>
          </a:prstGeom>
          <a:noFill xmlns:a="http://schemas.openxmlformats.org/drawingml/2006/main"/>
          <a:ln xmlns:a="http://schemas.openxmlformats.org/drawingml/2006/main" w="7620">
            <a:solidFill>
              <a:srgbClr val="444444"/>
            </a:solidFill>
          </a:ln>
        </p:spPr>
      </p:sp>
      <p:sp>
        <p:nvSpPr>
          <p:cNvPr id="113" name="sues_to_university/university1652_drone_to_satellite/visual/MRR/sd-line">
            <a:extLst xmlns:a="http://schemas.openxmlformats.org/drawingml/2006/main">
              <a:ext uri="{FF2B5EF4-FFF2-40B4-BE49-F238E27FC236}">
                <a16:creationId xmlns:a16="http://schemas.microsoft.com/office/drawing/2014/main" id="{E4CD97DB-DB04-44E4-A799-1A4917DF9DA9}"/>
              </a:ext>
            </a:extLst>
          </p:cNvPr>
          <p:cNvSpPr>
            <a:spLocks xmlns:a="http://schemas.openxmlformats.org/drawingml/2006/main" noGrp="1"/>
          </p:cNvSpPr>
          <p:nvPr/>
        </p:nvSpPr>
        <p:spPr>
          <a:xfrm xmlns:a="http://schemas.openxmlformats.org/drawingml/2006/main" flipV="0">
            <a:off x="5488443" y="1473200"/>
            <a:ext cx="2793" cy="0"/>
          </a:xfrm>
          <a:prstGeom xmlns:a="http://schemas.openxmlformats.org/drawingml/2006/main" prst="line">
            <a:avLst/>
          </a:prstGeom>
          <a:noFill xmlns:a="http://schemas.openxmlformats.org/drawingml/2006/main"/>
          <a:ln xmlns:a="http://schemas.openxmlformats.org/drawingml/2006/main" w="11430">
            <a:solidFill>
              <a:srgbClr val="0072B2"/>
            </a:solidFill>
          </a:ln>
        </p:spPr>
      </p:sp>
      <p:sp>
        <p:nvSpPr>
          <p:cNvPr id="114" name="sues_to_university/university1652_drone_to_satellite/visual/MRR/sd-cap-left">
            <a:extLst xmlns:a="http://schemas.openxmlformats.org/drawingml/2006/main">
              <a:ext uri="{FF2B5EF4-FFF2-40B4-BE49-F238E27FC236}">
                <a16:creationId xmlns:a16="http://schemas.microsoft.com/office/drawing/2014/main" id="{EDE64383-CCE4-4147-9AC9-3F35FF918C71}"/>
              </a:ext>
            </a:extLst>
          </p:cNvPr>
          <p:cNvSpPr>
            <a:spLocks xmlns:a="http://schemas.openxmlformats.org/drawingml/2006/main" noGrp="1"/>
          </p:cNvSpPr>
          <p:nvPr/>
        </p:nvSpPr>
        <p:spPr>
          <a:xfrm xmlns:a="http://schemas.openxmlformats.org/drawingml/2006/main" flipV="0">
            <a:off x="5488443" y="1446530"/>
            <a:ext cx="0" cy="53340"/>
          </a:xfrm>
          <a:prstGeom xmlns:a="http://schemas.openxmlformats.org/drawingml/2006/main" prst="line">
            <a:avLst/>
          </a:prstGeom>
          <a:noFill xmlns:a="http://schemas.openxmlformats.org/drawingml/2006/main"/>
          <a:ln xmlns:a="http://schemas.openxmlformats.org/drawingml/2006/main" w="10160">
            <a:solidFill>
              <a:srgbClr val="0072B2"/>
            </a:solidFill>
          </a:ln>
        </p:spPr>
      </p:sp>
      <p:sp>
        <p:nvSpPr>
          <p:cNvPr id="115" name="sues_to_university/university1652_drone_to_satellite/visual/MRR/sd-cap-right">
            <a:extLst xmlns:a="http://schemas.openxmlformats.org/drawingml/2006/main">
              <a:ext uri="{FF2B5EF4-FFF2-40B4-BE49-F238E27FC236}">
                <a16:creationId xmlns:a16="http://schemas.microsoft.com/office/drawing/2014/main" id="{46D1EE74-641F-4F09-B364-C17FA1E325CD}"/>
              </a:ext>
            </a:extLst>
          </p:cNvPr>
          <p:cNvSpPr>
            <a:spLocks xmlns:a="http://schemas.openxmlformats.org/drawingml/2006/main" noGrp="1"/>
          </p:cNvSpPr>
          <p:nvPr/>
        </p:nvSpPr>
        <p:spPr>
          <a:xfrm xmlns:a="http://schemas.openxmlformats.org/drawingml/2006/main" flipV="0">
            <a:off x="5491237" y="1446530"/>
            <a:ext cx="0" cy="53340"/>
          </a:xfrm>
          <a:prstGeom xmlns:a="http://schemas.openxmlformats.org/drawingml/2006/main" prst="line">
            <a:avLst/>
          </a:prstGeom>
          <a:noFill xmlns:a="http://schemas.openxmlformats.org/drawingml/2006/main"/>
          <a:ln xmlns:a="http://schemas.openxmlformats.org/drawingml/2006/main" w="10160">
            <a:solidFill>
              <a:srgbClr val="0072B2"/>
            </a:solidFill>
          </a:ln>
        </p:spPr>
      </p:sp>
      <p:sp>
        <p:nvSpPr>
          <p:cNvPr id="116" name="sues_to_university/university1652_drone_to_satellite/visual/MRR/mean">
            <a:extLst xmlns:a="http://schemas.openxmlformats.org/drawingml/2006/main">
              <a:ext uri="{FF2B5EF4-FFF2-40B4-BE49-F238E27FC236}">
                <a16:creationId xmlns:a16="http://schemas.microsoft.com/office/drawing/2014/main" id="{E578BA80-3A1C-4A9B-9073-89A25F0B551F}"/>
              </a:ext>
            </a:extLst>
          </p:cNvPr>
          <p:cNvSpPr>
            <a:spLocks xmlns:a="http://schemas.openxmlformats.org/drawingml/2006/main" noGrp="1"/>
          </p:cNvSpPr>
          <p:nvPr/>
        </p:nvSpPr>
        <p:spPr>
          <a:xfrm xmlns:a="http://schemas.openxmlformats.org/drawingml/2006/main">
            <a:off x="5466980" y="1450340"/>
            <a:ext cx="45720" cy="45720"/>
          </a:xfrm>
          <a:prstGeom xmlns:a="http://schemas.openxmlformats.org/drawingml/2006/main" prst="ellipse">
            <a:avLst/>
          </a:prstGeom>
          <a:solidFill xmlns:a="http://schemas.openxmlformats.org/drawingml/2006/main">
            <a:srgbClr val="0072B2"/>
          </a:solidFill>
          <a:ln xmlns:a="http://schemas.openxmlformats.org/drawingml/2006/main" w="0">
            <a:noFill/>
          </a:ln>
        </p:spPr>
      </p:sp>
      <p:sp>
        <p:nvSpPr>
          <p:cNvPr id="117" name="sues_to_university/university1652_drone_to_satellite/visual/MRR/value">
            <a:extLst xmlns:a="http://schemas.openxmlformats.org/drawingml/2006/main">
              <a:ext uri="{FF2B5EF4-FFF2-40B4-BE49-F238E27FC236}">
                <a16:creationId xmlns:a16="http://schemas.microsoft.com/office/drawing/2014/main" id="{D0B4EF2C-3486-499F-8E42-B2B69B64FF1C}"/>
              </a:ext>
            </a:extLst>
          </p:cNvPr>
          <p:cNvSpPr>
            <a:spLocks xmlns:a="http://schemas.openxmlformats.org/drawingml/2006/main" noGrp="1"/>
          </p:cNvSpPr>
          <p:nvPr/>
        </p:nvSpPr>
        <p:spPr>
          <a:xfrm xmlns:a="http://schemas.openxmlformats.org/drawingml/2006/main">
            <a:off x="5194157" y="1519428"/>
            <a:ext cx="68608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0072B2"/>
                </a:solidFill>
                <a:latin typeface="Arial"/>
                <a:ea typeface="Arial"/>
                <a:cs typeface="Arial"/>
              </a:defRPr>
            </a:pPr>
            <a:r>
              <a:rPr sz="800" b="0">
                <a:solidFill>
                  <a:srgbClr val="0072B2"/>
                </a:solidFill>
                <a:latin typeface="Arial"/>
                <a:ea typeface="Arial"/>
                <a:cs typeface="Arial"/>
              </a:rPr>
              <a:t>18.714 ± 0.038</a:t>
            </a:r>
          </a:p>
        </p:txBody>
      </p:sp>
      <p:sp>
        <p:nvSpPr>
          <p:cNvPr id="118" name="sues_to_university/university1652_drone_to_satellite/full/MRR/sd-line">
            <a:extLst xmlns:a="http://schemas.openxmlformats.org/drawingml/2006/main">
              <a:ext uri="{FF2B5EF4-FFF2-40B4-BE49-F238E27FC236}">
                <a16:creationId xmlns:a16="http://schemas.microsoft.com/office/drawing/2014/main" id="{DF2D4B9C-4ABB-4166-8262-53BFFFD2CECC}"/>
              </a:ext>
            </a:extLst>
          </p:cNvPr>
          <p:cNvSpPr>
            <a:spLocks xmlns:a="http://schemas.openxmlformats.org/drawingml/2006/main" noGrp="1"/>
          </p:cNvSpPr>
          <p:nvPr/>
        </p:nvSpPr>
        <p:spPr>
          <a:xfrm xmlns:a="http://schemas.openxmlformats.org/drawingml/2006/main" flipV="0">
            <a:off x="5328150" y="1727200"/>
            <a:ext cx="59564" cy="0"/>
          </a:xfrm>
          <a:prstGeom xmlns:a="http://schemas.openxmlformats.org/drawingml/2006/main" prst="line">
            <a:avLst/>
          </a:prstGeom>
          <a:noFill xmlns:a="http://schemas.openxmlformats.org/drawingml/2006/main"/>
          <a:ln xmlns:a="http://schemas.openxmlformats.org/drawingml/2006/main" w="11430">
            <a:solidFill>
              <a:srgbClr val="D55E00"/>
            </a:solidFill>
          </a:ln>
        </p:spPr>
      </p:sp>
      <p:sp>
        <p:nvSpPr>
          <p:cNvPr id="119" name="sues_to_university/university1652_drone_to_satellite/full/MRR/sd-cap-left">
            <a:extLst xmlns:a="http://schemas.openxmlformats.org/drawingml/2006/main">
              <a:ext uri="{FF2B5EF4-FFF2-40B4-BE49-F238E27FC236}">
                <a16:creationId xmlns:a16="http://schemas.microsoft.com/office/drawing/2014/main" id="{1AD69505-9C3B-4151-ADF1-CE014D094FDF}"/>
              </a:ext>
            </a:extLst>
          </p:cNvPr>
          <p:cNvSpPr>
            <a:spLocks xmlns:a="http://schemas.openxmlformats.org/drawingml/2006/main" noGrp="1"/>
          </p:cNvSpPr>
          <p:nvPr/>
        </p:nvSpPr>
        <p:spPr>
          <a:xfrm xmlns:a="http://schemas.openxmlformats.org/drawingml/2006/main" flipV="0">
            <a:off x="5328150" y="1700530"/>
            <a:ext cx="0" cy="53340"/>
          </a:xfrm>
          <a:prstGeom xmlns:a="http://schemas.openxmlformats.org/drawingml/2006/main" prst="line">
            <a:avLst/>
          </a:prstGeom>
          <a:noFill xmlns:a="http://schemas.openxmlformats.org/drawingml/2006/main"/>
          <a:ln xmlns:a="http://schemas.openxmlformats.org/drawingml/2006/main" w="10160">
            <a:solidFill>
              <a:srgbClr val="D55E00"/>
            </a:solidFill>
          </a:ln>
        </p:spPr>
      </p:sp>
      <p:sp>
        <p:nvSpPr>
          <p:cNvPr id="120" name="sues_to_university/university1652_drone_to_satellite/full/MRR/sd-cap-right">
            <a:extLst xmlns:a="http://schemas.openxmlformats.org/drawingml/2006/main">
              <a:ext uri="{FF2B5EF4-FFF2-40B4-BE49-F238E27FC236}">
                <a16:creationId xmlns:a16="http://schemas.microsoft.com/office/drawing/2014/main" id="{1FBB44C6-A5E5-4D03-8EFA-748B9368A704}"/>
              </a:ext>
            </a:extLst>
          </p:cNvPr>
          <p:cNvSpPr>
            <a:spLocks xmlns:a="http://schemas.openxmlformats.org/drawingml/2006/main" noGrp="1"/>
          </p:cNvSpPr>
          <p:nvPr/>
        </p:nvSpPr>
        <p:spPr>
          <a:xfrm xmlns:a="http://schemas.openxmlformats.org/drawingml/2006/main" flipV="0">
            <a:off x="5387714" y="1700530"/>
            <a:ext cx="0" cy="53340"/>
          </a:xfrm>
          <a:prstGeom xmlns:a="http://schemas.openxmlformats.org/drawingml/2006/main" prst="line">
            <a:avLst/>
          </a:prstGeom>
          <a:noFill xmlns:a="http://schemas.openxmlformats.org/drawingml/2006/main"/>
          <a:ln xmlns:a="http://schemas.openxmlformats.org/drawingml/2006/main" w="10160">
            <a:solidFill>
              <a:srgbClr val="D55E00"/>
            </a:solidFill>
          </a:ln>
        </p:spPr>
      </p:sp>
      <p:sp>
        <p:nvSpPr>
          <p:cNvPr id="121" name="sues_to_university/university1652_drone_to_satellite/full/MRR/mean">
            <a:extLst xmlns:a="http://schemas.openxmlformats.org/drawingml/2006/main">
              <a:ext uri="{FF2B5EF4-FFF2-40B4-BE49-F238E27FC236}">
                <a16:creationId xmlns:a16="http://schemas.microsoft.com/office/drawing/2014/main" id="{4C95C840-2782-4085-8A70-F422DF4DFCFA}"/>
              </a:ext>
            </a:extLst>
          </p:cNvPr>
          <p:cNvSpPr>
            <a:spLocks xmlns:a="http://schemas.openxmlformats.org/drawingml/2006/main" noGrp="1"/>
          </p:cNvSpPr>
          <p:nvPr/>
        </p:nvSpPr>
        <p:spPr>
          <a:xfrm xmlns:a="http://schemas.openxmlformats.org/drawingml/2006/main">
            <a:off x="5335072" y="1704340"/>
            <a:ext cx="45720" cy="45720"/>
          </a:xfrm>
          <a:prstGeom xmlns:a="http://schemas.openxmlformats.org/drawingml/2006/main" prst="rect">
            <a:avLst/>
          </a:prstGeom>
          <a:solidFill xmlns:a="http://schemas.openxmlformats.org/drawingml/2006/main">
            <a:srgbClr val="D55E00"/>
          </a:solidFill>
          <a:ln xmlns:a="http://schemas.openxmlformats.org/drawingml/2006/main" w="0">
            <a:noFill/>
          </a:ln>
        </p:spPr>
      </p:sp>
      <p:sp>
        <p:nvSpPr>
          <p:cNvPr id="122" name="sues_to_university/university1652_drone_to_satellite/full/MRR/value">
            <a:extLst xmlns:a="http://schemas.openxmlformats.org/drawingml/2006/main">
              <a:ext uri="{FF2B5EF4-FFF2-40B4-BE49-F238E27FC236}">
                <a16:creationId xmlns:a16="http://schemas.microsoft.com/office/drawing/2014/main" id="{1DA500BF-427D-444B-8209-132AAC2E0841}"/>
              </a:ext>
            </a:extLst>
          </p:cNvPr>
          <p:cNvSpPr>
            <a:spLocks xmlns:a="http://schemas.openxmlformats.org/drawingml/2006/main" noGrp="1"/>
          </p:cNvSpPr>
          <p:nvPr/>
        </p:nvSpPr>
        <p:spPr>
          <a:xfrm xmlns:a="http://schemas.openxmlformats.org/drawingml/2006/main">
            <a:off x="5194157" y="1773428"/>
            <a:ext cx="68608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D55E00"/>
                </a:solidFill>
                <a:latin typeface="Arial"/>
                <a:ea typeface="Arial"/>
                <a:cs typeface="Arial"/>
              </a:defRPr>
            </a:pPr>
            <a:r>
              <a:rPr sz="800" b="0">
                <a:solidFill>
                  <a:srgbClr val="D55E00"/>
                </a:solidFill>
                <a:latin typeface="Arial"/>
                <a:ea typeface="Arial"/>
                <a:cs typeface="Arial"/>
              </a:rPr>
              <a:t>15.133 ± 0.809</a:t>
            </a:r>
          </a:p>
        </p:txBody>
      </p:sp>
      <p:sp>
        <p:nvSpPr>
          <p:cNvPr id="123" name="sues_to_university/university1652_satellite_to_drone/visual/MRR/sd-line">
            <a:extLst xmlns:a="http://schemas.openxmlformats.org/drawingml/2006/main">
              <a:ext uri="{FF2B5EF4-FFF2-40B4-BE49-F238E27FC236}">
                <a16:creationId xmlns:a16="http://schemas.microsoft.com/office/drawing/2014/main" id="{B9A7E605-8F1C-4BBA-B0AA-E63D0473AE12}"/>
              </a:ext>
            </a:extLst>
          </p:cNvPr>
          <p:cNvSpPr>
            <a:spLocks xmlns:a="http://schemas.openxmlformats.org/drawingml/2006/main" noGrp="1"/>
          </p:cNvSpPr>
          <p:nvPr/>
        </p:nvSpPr>
        <p:spPr>
          <a:xfrm xmlns:a="http://schemas.openxmlformats.org/drawingml/2006/main" flipV="0">
            <a:off x="5974811" y="2057400"/>
            <a:ext cx="122774" cy="0"/>
          </a:xfrm>
          <a:prstGeom xmlns:a="http://schemas.openxmlformats.org/drawingml/2006/main" prst="line">
            <a:avLst/>
          </a:prstGeom>
          <a:noFill xmlns:a="http://schemas.openxmlformats.org/drawingml/2006/main"/>
          <a:ln xmlns:a="http://schemas.openxmlformats.org/drawingml/2006/main" w="11430">
            <a:solidFill>
              <a:srgbClr val="0072B2"/>
            </a:solidFill>
          </a:ln>
        </p:spPr>
      </p:sp>
      <p:sp>
        <p:nvSpPr>
          <p:cNvPr id="124" name="sues_to_university/university1652_satellite_to_drone/visual/MRR/sd-cap-left">
            <a:extLst xmlns:a="http://schemas.openxmlformats.org/drawingml/2006/main">
              <a:ext uri="{FF2B5EF4-FFF2-40B4-BE49-F238E27FC236}">
                <a16:creationId xmlns:a16="http://schemas.microsoft.com/office/drawing/2014/main" id="{BE8FE395-75ED-4CC5-B9B0-861616885A91}"/>
              </a:ext>
            </a:extLst>
          </p:cNvPr>
          <p:cNvSpPr>
            <a:spLocks xmlns:a="http://schemas.openxmlformats.org/drawingml/2006/main" noGrp="1"/>
          </p:cNvSpPr>
          <p:nvPr/>
        </p:nvSpPr>
        <p:spPr>
          <a:xfrm xmlns:a="http://schemas.openxmlformats.org/drawingml/2006/main" flipV="0">
            <a:off x="5974811" y="2030730"/>
            <a:ext cx="0" cy="53340"/>
          </a:xfrm>
          <a:prstGeom xmlns:a="http://schemas.openxmlformats.org/drawingml/2006/main" prst="line">
            <a:avLst/>
          </a:prstGeom>
          <a:noFill xmlns:a="http://schemas.openxmlformats.org/drawingml/2006/main"/>
          <a:ln xmlns:a="http://schemas.openxmlformats.org/drawingml/2006/main" w="10160">
            <a:solidFill>
              <a:srgbClr val="0072B2"/>
            </a:solidFill>
          </a:ln>
        </p:spPr>
      </p:sp>
      <p:sp>
        <p:nvSpPr>
          <p:cNvPr id="125" name="sues_to_university/university1652_satellite_to_drone/visual/MRR/sd-cap-right">
            <a:extLst xmlns:a="http://schemas.openxmlformats.org/drawingml/2006/main">
              <a:ext uri="{FF2B5EF4-FFF2-40B4-BE49-F238E27FC236}">
                <a16:creationId xmlns:a16="http://schemas.microsoft.com/office/drawing/2014/main" id="{E4DEC6ED-5ABD-4C76-A20B-31325A8B7CB7}"/>
              </a:ext>
            </a:extLst>
          </p:cNvPr>
          <p:cNvSpPr>
            <a:spLocks xmlns:a="http://schemas.openxmlformats.org/drawingml/2006/main" noGrp="1"/>
          </p:cNvSpPr>
          <p:nvPr/>
        </p:nvSpPr>
        <p:spPr>
          <a:xfrm xmlns:a="http://schemas.openxmlformats.org/drawingml/2006/main" flipV="0">
            <a:off x="6097585" y="2030730"/>
            <a:ext cx="0" cy="53340"/>
          </a:xfrm>
          <a:prstGeom xmlns:a="http://schemas.openxmlformats.org/drawingml/2006/main" prst="line">
            <a:avLst/>
          </a:prstGeom>
          <a:noFill xmlns:a="http://schemas.openxmlformats.org/drawingml/2006/main"/>
          <a:ln xmlns:a="http://schemas.openxmlformats.org/drawingml/2006/main" w="10160">
            <a:solidFill>
              <a:srgbClr val="0072B2"/>
            </a:solidFill>
          </a:ln>
        </p:spPr>
      </p:sp>
      <p:sp>
        <p:nvSpPr>
          <p:cNvPr id="126" name="sues_to_university/university1652_satellite_to_drone/visual/MRR/mean">
            <a:extLst xmlns:a="http://schemas.openxmlformats.org/drawingml/2006/main">
              <a:ext uri="{FF2B5EF4-FFF2-40B4-BE49-F238E27FC236}">
                <a16:creationId xmlns:a16="http://schemas.microsoft.com/office/drawing/2014/main" id="{092FE0BD-C68F-40E2-8DAE-266D12D4B917}"/>
              </a:ext>
            </a:extLst>
          </p:cNvPr>
          <p:cNvSpPr>
            <a:spLocks xmlns:a="http://schemas.openxmlformats.org/drawingml/2006/main" noGrp="1"/>
          </p:cNvSpPr>
          <p:nvPr/>
        </p:nvSpPr>
        <p:spPr>
          <a:xfrm xmlns:a="http://schemas.openxmlformats.org/drawingml/2006/main">
            <a:off x="6013338" y="2034540"/>
            <a:ext cx="45720" cy="45720"/>
          </a:xfrm>
          <a:prstGeom xmlns:a="http://schemas.openxmlformats.org/drawingml/2006/main" prst="ellipse">
            <a:avLst/>
          </a:prstGeom>
          <a:solidFill xmlns:a="http://schemas.openxmlformats.org/drawingml/2006/main">
            <a:srgbClr val="0072B2"/>
          </a:solidFill>
          <a:ln xmlns:a="http://schemas.openxmlformats.org/drawingml/2006/main" w="0">
            <a:noFill/>
          </a:ln>
        </p:spPr>
      </p:sp>
      <p:sp>
        <p:nvSpPr>
          <p:cNvPr id="127" name="sues_to_university/university1652_satellite_to_drone/visual/MRR/value">
            <a:extLst xmlns:a="http://schemas.openxmlformats.org/drawingml/2006/main">
              <a:ext uri="{FF2B5EF4-FFF2-40B4-BE49-F238E27FC236}">
                <a16:creationId xmlns:a16="http://schemas.microsoft.com/office/drawing/2014/main" id="{6A4387DE-D1C6-4C21-844D-CE3F096F33D9}"/>
              </a:ext>
            </a:extLst>
          </p:cNvPr>
          <p:cNvSpPr>
            <a:spLocks xmlns:a="http://schemas.openxmlformats.org/drawingml/2006/main" noGrp="1"/>
          </p:cNvSpPr>
          <p:nvPr/>
        </p:nvSpPr>
        <p:spPr>
          <a:xfrm xmlns:a="http://schemas.openxmlformats.org/drawingml/2006/main">
            <a:off x="5194157" y="2103628"/>
            <a:ext cx="68608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0072B2"/>
                </a:solidFill>
                <a:latin typeface="Arial"/>
                <a:ea typeface="Arial"/>
                <a:cs typeface="Arial"/>
              </a:defRPr>
            </a:pPr>
            <a:r>
              <a:rPr sz="800" b="0">
                <a:solidFill>
                  <a:srgbClr val="0072B2"/>
                </a:solidFill>
                <a:latin typeface="Arial"/>
                <a:ea typeface="Arial"/>
                <a:cs typeface="Arial"/>
              </a:rPr>
              <a:t>33.549 ± 1.667</a:t>
            </a:r>
          </a:p>
        </p:txBody>
      </p:sp>
      <p:sp>
        <p:nvSpPr>
          <p:cNvPr id="128" name="sues_to_university/university1652_satellite_to_drone/full/MRR/sd-line">
            <a:extLst xmlns:a="http://schemas.openxmlformats.org/drawingml/2006/main">
              <a:ext uri="{FF2B5EF4-FFF2-40B4-BE49-F238E27FC236}">
                <a16:creationId xmlns:a16="http://schemas.microsoft.com/office/drawing/2014/main" id="{EFB23109-7418-4811-A3C5-B9B52305A869}"/>
              </a:ext>
            </a:extLst>
          </p:cNvPr>
          <p:cNvSpPr>
            <a:spLocks xmlns:a="http://schemas.openxmlformats.org/drawingml/2006/main" noGrp="1"/>
          </p:cNvSpPr>
          <p:nvPr/>
        </p:nvSpPr>
        <p:spPr>
          <a:xfrm xmlns:a="http://schemas.openxmlformats.org/drawingml/2006/main" flipV="0">
            <a:off x="5670299" y="2311400"/>
            <a:ext cx="167294" cy="0"/>
          </a:xfrm>
          <a:prstGeom xmlns:a="http://schemas.openxmlformats.org/drawingml/2006/main" prst="line">
            <a:avLst/>
          </a:prstGeom>
          <a:noFill xmlns:a="http://schemas.openxmlformats.org/drawingml/2006/main"/>
          <a:ln xmlns:a="http://schemas.openxmlformats.org/drawingml/2006/main" w="11430">
            <a:solidFill>
              <a:srgbClr val="D55E00"/>
            </a:solidFill>
          </a:ln>
        </p:spPr>
      </p:sp>
      <p:sp>
        <p:nvSpPr>
          <p:cNvPr id="129" name="sues_to_university/university1652_satellite_to_drone/full/MRR/sd-cap-left">
            <a:extLst xmlns:a="http://schemas.openxmlformats.org/drawingml/2006/main">
              <a:ext uri="{FF2B5EF4-FFF2-40B4-BE49-F238E27FC236}">
                <a16:creationId xmlns:a16="http://schemas.microsoft.com/office/drawing/2014/main" id="{22642619-66E3-412B-A746-37162D8DF518}"/>
              </a:ext>
            </a:extLst>
          </p:cNvPr>
          <p:cNvSpPr>
            <a:spLocks xmlns:a="http://schemas.openxmlformats.org/drawingml/2006/main" noGrp="1"/>
          </p:cNvSpPr>
          <p:nvPr/>
        </p:nvSpPr>
        <p:spPr>
          <a:xfrm xmlns:a="http://schemas.openxmlformats.org/drawingml/2006/main" flipV="0">
            <a:off x="5670299" y="2284730"/>
            <a:ext cx="0" cy="53340"/>
          </a:xfrm>
          <a:prstGeom xmlns:a="http://schemas.openxmlformats.org/drawingml/2006/main" prst="line">
            <a:avLst/>
          </a:prstGeom>
          <a:noFill xmlns:a="http://schemas.openxmlformats.org/drawingml/2006/main"/>
          <a:ln xmlns:a="http://schemas.openxmlformats.org/drawingml/2006/main" w="10160">
            <a:solidFill>
              <a:srgbClr val="D55E00"/>
            </a:solidFill>
          </a:ln>
        </p:spPr>
      </p:sp>
      <p:sp>
        <p:nvSpPr>
          <p:cNvPr id="130" name="sues_to_university/university1652_satellite_to_drone/full/MRR/sd-cap-right">
            <a:extLst xmlns:a="http://schemas.openxmlformats.org/drawingml/2006/main">
              <a:ext uri="{FF2B5EF4-FFF2-40B4-BE49-F238E27FC236}">
                <a16:creationId xmlns:a16="http://schemas.microsoft.com/office/drawing/2014/main" id="{1D9D23FC-3388-4771-9E3B-62AD5D61B776}"/>
              </a:ext>
            </a:extLst>
          </p:cNvPr>
          <p:cNvSpPr>
            <a:spLocks xmlns:a="http://schemas.openxmlformats.org/drawingml/2006/main" noGrp="1"/>
          </p:cNvSpPr>
          <p:nvPr/>
        </p:nvSpPr>
        <p:spPr>
          <a:xfrm xmlns:a="http://schemas.openxmlformats.org/drawingml/2006/main" flipV="0">
            <a:off x="5837593" y="2284730"/>
            <a:ext cx="0" cy="53340"/>
          </a:xfrm>
          <a:prstGeom xmlns:a="http://schemas.openxmlformats.org/drawingml/2006/main" prst="line">
            <a:avLst/>
          </a:prstGeom>
          <a:noFill xmlns:a="http://schemas.openxmlformats.org/drawingml/2006/main"/>
          <a:ln xmlns:a="http://schemas.openxmlformats.org/drawingml/2006/main" w="10160">
            <a:solidFill>
              <a:srgbClr val="D55E00"/>
            </a:solidFill>
          </a:ln>
        </p:spPr>
      </p:sp>
      <p:sp>
        <p:nvSpPr>
          <p:cNvPr id="131" name="sues_to_university/university1652_satellite_to_drone/full/MRR/mean">
            <a:extLst xmlns:a="http://schemas.openxmlformats.org/drawingml/2006/main">
              <a:ext uri="{FF2B5EF4-FFF2-40B4-BE49-F238E27FC236}">
                <a16:creationId xmlns:a16="http://schemas.microsoft.com/office/drawing/2014/main" id="{941769E3-D967-4E41-8B3A-498F1E78992D}"/>
              </a:ext>
            </a:extLst>
          </p:cNvPr>
          <p:cNvSpPr>
            <a:spLocks xmlns:a="http://schemas.openxmlformats.org/drawingml/2006/main" noGrp="1"/>
          </p:cNvSpPr>
          <p:nvPr/>
        </p:nvSpPr>
        <p:spPr>
          <a:xfrm xmlns:a="http://schemas.openxmlformats.org/drawingml/2006/main">
            <a:off x="5731086" y="2288540"/>
            <a:ext cx="45720" cy="45720"/>
          </a:xfrm>
          <a:prstGeom xmlns:a="http://schemas.openxmlformats.org/drawingml/2006/main" prst="rect">
            <a:avLst/>
          </a:prstGeom>
          <a:solidFill xmlns:a="http://schemas.openxmlformats.org/drawingml/2006/main">
            <a:srgbClr val="D55E00"/>
          </a:solidFill>
          <a:ln xmlns:a="http://schemas.openxmlformats.org/drawingml/2006/main" w="0">
            <a:noFill/>
          </a:ln>
        </p:spPr>
      </p:sp>
      <p:sp>
        <p:nvSpPr>
          <p:cNvPr id="132" name="sues_to_university/university1652_satellite_to_drone/full/MRR/value">
            <a:extLst xmlns:a="http://schemas.openxmlformats.org/drawingml/2006/main">
              <a:ext uri="{FF2B5EF4-FFF2-40B4-BE49-F238E27FC236}">
                <a16:creationId xmlns:a16="http://schemas.microsoft.com/office/drawing/2014/main" id="{C4789935-E5CC-4F7E-BDF7-838904CFE332}"/>
              </a:ext>
            </a:extLst>
          </p:cNvPr>
          <p:cNvSpPr>
            <a:spLocks xmlns:a="http://schemas.openxmlformats.org/drawingml/2006/main" noGrp="1"/>
          </p:cNvSpPr>
          <p:nvPr/>
        </p:nvSpPr>
        <p:spPr>
          <a:xfrm xmlns:a="http://schemas.openxmlformats.org/drawingml/2006/main">
            <a:off x="5194157" y="2357628"/>
            <a:ext cx="68608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D55E00"/>
                </a:solidFill>
                <a:latin typeface="Arial"/>
                <a:ea typeface="Arial"/>
                <a:cs typeface="Arial"/>
              </a:defRPr>
            </a:pPr>
            <a:r>
              <a:rPr sz="800" b="0">
                <a:solidFill>
                  <a:srgbClr val="D55E00"/>
                </a:solidFill>
                <a:latin typeface="Arial"/>
                <a:ea typeface="Arial"/>
                <a:cs typeface="Arial"/>
              </a:rPr>
              <a:t>25.885 ± 2.271</a:t>
            </a:r>
          </a:p>
        </p:txBody>
      </p:sp>
      <p:sp>
        <p:nvSpPr>
          <p:cNvPr id="133" name="sues_to_university/university1652_street_to_satellite/visual/MRR/sd-line">
            <a:extLst xmlns:a="http://schemas.openxmlformats.org/drawingml/2006/main">
              <a:ext uri="{FF2B5EF4-FFF2-40B4-BE49-F238E27FC236}">
                <a16:creationId xmlns:a16="http://schemas.microsoft.com/office/drawing/2014/main" id="{444FFCBF-FF9B-4D59-92FA-E1069B1BB8AD}"/>
              </a:ext>
            </a:extLst>
          </p:cNvPr>
          <p:cNvSpPr>
            <a:spLocks xmlns:a="http://schemas.openxmlformats.org/drawingml/2006/main" noGrp="1"/>
          </p:cNvSpPr>
          <p:nvPr/>
        </p:nvSpPr>
        <p:spPr>
          <a:xfrm xmlns:a="http://schemas.openxmlformats.org/drawingml/2006/main" flipV="0">
            <a:off x="4837680" y="2641600"/>
            <a:ext cx="10455" cy="0"/>
          </a:xfrm>
          <a:prstGeom xmlns:a="http://schemas.openxmlformats.org/drawingml/2006/main" prst="line">
            <a:avLst/>
          </a:prstGeom>
          <a:noFill xmlns:a="http://schemas.openxmlformats.org/drawingml/2006/main"/>
          <a:ln xmlns:a="http://schemas.openxmlformats.org/drawingml/2006/main" w="11430">
            <a:solidFill>
              <a:srgbClr val="0072B2"/>
            </a:solidFill>
          </a:ln>
        </p:spPr>
      </p:sp>
      <p:sp>
        <p:nvSpPr>
          <p:cNvPr id="134" name="sues_to_university/university1652_street_to_satellite/visual/MRR/sd-cap-left">
            <a:extLst xmlns:a="http://schemas.openxmlformats.org/drawingml/2006/main">
              <a:ext uri="{FF2B5EF4-FFF2-40B4-BE49-F238E27FC236}">
                <a16:creationId xmlns:a16="http://schemas.microsoft.com/office/drawing/2014/main" id="{B0A40853-0504-481B-9621-2B9C65F12ACF}"/>
              </a:ext>
            </a:extLst>
          </p:cNvPr>
          <p:cNvSpPr>
            <a:spLocks xmlns:a="http://schemas.openxmlformats.org/drawingml/2006/main" noGrp="1"/>
          </p:cNvSpPr>
          <p:nvPr/>
        </p:nvSpPr>
        <p:spPr>
          <a:xfrm xmlns:a="http://schemas.openxmlformats.org/drawingml/2006/main" flipV="0">
            <a:off x="4837680" y="2614930"/>
            <a:ext cx="0" cy="53340"/>
          </a:xfrm>
          <a:prstGeom xmlns:a="http://schemas.openxmlformats.org/drawingml/2006/main" prst="line">
            <a:avLst/>
          </a:prstGeom>
          <a:noFill xmlns:a="http://schemas.openxmlformats.org/drawingml/2006/main"/>
          <a:ln xmlns:a="http://schemas.openxmlformats.org/drawingml/2006/main" w="10160">
            <a:solidFill>
              <a:srgbClr val="0072B2"/>
            </a:solidFill>
          </a:ln>
        </p:spPr>
      </p:sp>
      <p:sp>
        <p:nvSpPr>
          <p:cNvPr id="135" name="sues_to_university/university1652_street_to_satellite/visual/MRR/sd-cap-right">
            <a:extLst xmlns:a="http://schemas.openxmlformats.org/drawingml/2006/main">
              <a:ext uri="{FF2B5EF4-FFF2-40B4-BE49-F238E27FC236}">
                <a16:creationId xmlns:a16="http://schemas.microsoft.com/office/drawing/2014/main" id="{FC5B667C-7AD0-489C-8A7D-55F188CBAF49}"/>
              </a:ext>
            </a:extLst>
          </p:cNvPr>
          <p:cNvSpPr>
            <a:spLocks xmlns:a="http://schemas.openxmlformats.org/drawingml/2006/main" noGrp="1"/>
          </p:cNvSpPr>
          <p:nvPr/>
        </p:nvSpPr>
        <p:spPr>
          <a:xfrm xmlns:a="http://schemas.openxmlformats.org/drawingml/2006/main" flipV="0">
            <a:off x="4848135" y="2614930"/>
            <a:ext cx="0" cy="53340"/>
          </a:xfrm>
          <a:prstGeom xmlns:a="http://schemas.openxmlformats.org/drawingml/2006/main" prst="line">
            <a:avLst/>
          </a:prstGeom>
          <a:noFill xmlns:a="http://schemas.openxmlformats.org/drawingml/2006/main"/>
          <a:ln xmlns:a="http://schemas.openxmlformats.org/drawingml/2006/main" w="10160">
            <a:solidFill>
              <a:srgbClr val="0072B2"/>
            </a:solidFill>
          </a:ln>
        </p:spPr>
      </p:sp>
      <p:sp>
        <p:nvSpPr>
          <p:cNvPr id="136" name="sues_to_university/university1652_street_to_satellite/visual/MRR/mean">
            <a:extLst xmlns:a="http://schemas.openxmlformats.org/drawingml/2006/main">
              <a:ext uri="{FF2B5EF4-FFF2-40B4-BE49-F238E27FC236}">
                <a16:creationId xmlns:a16="http://schemas.microsoft.com/office/drawing/2014/main" id="{A04E290B-3A50-446F-9680-81122FCAED2C}"/>
              </a:ext>
            </a:extLst>
          </p:cNvPr>
          <p:cNvSpPr>
            <a:spLocks xmlns:a="http://schemas.openxmlformats.org/drawingml/2006/main" noGrp="1"/>
          </p:cNvSpPr>
          <p:nvPr/>
        </p:nvSpPr>
        <p:spPr>
          <a:xfrm xmlns:a="http://schemas.openxmlformats.org/drawingml/2006/main">
            <a:off x="4820048" y="2618740"/>
            <a:ext cx="45720" cy="45720"/>
          </a:xfrm>
          <a:prstGeom xmlns:a="http://schemas.openxmlformats.org/drawingml/2006/main" prst="ellipse">
            <a:avLst/>
          </a:prstGeom>
          <a:solidFill xmlns:a="http://schemas.openxmlformats.org/drawingml/2006/main">
            <a:srgbClr val="0072B2"/>
          </a:solidFill>
          <a:ln xmlns:a="http://schemas.openxmlformats.org/drawingml/2006/main" w="0">
            <a:noFill/>
          </a:ln>
        </p:spPr>
      </p:sp>
      <p:sp>
        <p:nvSpPr>
          <p:cNvPr id="137" name="sues_to_university/university1652_street_to_satellite/visual/MRR/value">
            <a:extLst xmlns:a="http://schemas.openxmlformats.org/drawingml/2006/main">
              <a:ext uri="{FF2B5EF4-FFF2-40B4-BE49-F238E27FC236}">
                <a16:creationId xmlns:a16="http://schemas.microsoft.com/office/drawing/2014/main" id="{9B21547E-EB8B-44F1-AA19-303D09C40ADB}"/>
              </a:ext>
            </a:extLst>
          </p:cNvPr>
          <p:cNvSpPr>
            <a:spLocks xmlns:a="http://schemas.openxmlformats.org/drawingml/2006/main" noGrp="1"/>
          </p:cNvSpPr>
          <p:nvPr/>
        </p:nvSpPr>
        <p:spPr>
          <a:xfrm xmlns:a="http://schemas.openxmlformats.org/drawingml/2006/main">
            <a:off x="5222399" y="2687828"/>
            <a:ext cx="629602"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0072B2"/>
                </a:solidFill>
                <a:latin typeface="Arial"/>
                <a:ea typeface="Arial"/>
                <a:cs typeface="Arial"/>
              </a:defRPr>
            </a:pPr>
            <a:r>
              <a:rPr sz="800" b="0">
                <a:solidFill>
                  <a:srgbClr val="0072B2"/>
                </a:solidFill>
                <a:latin typeface="Arial"/>
                <a:ea typeface="Arial"/>
                <a:cs typeface="Arial"/>
              </a:rPr>
              <a:t>1.149 ± 0.142</a:t>
            </a:r>
          </a:p>
        </p:txBody>
      </p:sp>
      <p:sp>
        <p:nvSpPr>
          <p:cNvPr id="138" name="sues_to_university/university1652_street_to_satellite/full/MRR/sd-line">
            <a:extLst xmlns:a="http://schemas.openxmlformats.org/drawingml/2006/main">
              <a:ext uri="{FF2B5EF4-FFF2-40B4-BE49-F238E27FC236}">
                <a16:creationId xmlns:a16="http://schemas.microsoft.com/office/drawing/2014/main" id="{0C5158EE-2864-468F-8068-5EC7B2584FF7}"/>
              </a:ext>
            </a:extLst>
          </p:cNvPr>
          <p:cNvSpPr>
            <a:spLocks xmlns:a="http://schemas.openxmlformats.org/drawingml/2006/main" noGrp="1"/>
          </p:cNvSpPr>
          <p:nvPr/>
        </p:nvSpPr>
        <p:spPr>
          <a:xfrm xmlns:a="http://schemas.openxmlformats.org/drawingml/2006/main" flipV="0">
            <a:off x="4843448" y="2895600"/>
            <a:ext cx="6689" cy="0"/>
          </a:xfrm>
          <a:prstGeom xmlns:a="http://schemas.openxmlformats.org/drawingml/2006/main" prst="line">
            <a:avLst/>
          </a:prstGeom>
          <a:noFill xmlns:a="http://schemas.openxmlformats.org/drawingml/2006/main"/>
          <a:ln xmlns:a="http://schemas.openxmlformats.org/drawingml/2006/main" w="11430">
            <a:solidFill>
              <a:srgbClr val="D55E00"/>
            </a:solidFill>
          </a:ln>
        </p:spPr>
      </p:sp>
      <p:sp>
        <p:nvSpPr>
          <p:cNvPr id="139" name="sues_to_university/university1652_street_to_satellite/full/MRR/sd-cap-left">
            <a:extLst xmlns:a="http://schemas.openxmlformats.org/drawingml/2006/main">
              <a:ext uri="{FF2B5EF4-FFF2-40B4-BE49-F238E27FC236}">
                <a16:creationId xmlns:a16="http://schemas.microsoft.com/office/drawing/2014/main" id="{EBD95FE6-AAA8-425E-AC45-F46A396AF110}"/>
              </a:ext>
            </a:extLst>
          </p:cNvPr>
          <p:cNvSpPr>
            <a:spLocks xmlns:a="http://schemas.openxmlformats.org/drawingml/2006/main" noGrp="1"/>
          </p:cNvSpPr>
          <p:nvPr/>
        </p:nvSpPr>
        <p:spPr>
          <a:xfrm xmlns:a="http://schemas.openxmlformats.org/drawingml/2006/main" flipV="0">
            <a:off x="4843448" y="2868930"/>
            <a:ext cx="0" cy="53340"/>
          </a:xfrm>
          <a:prstGeom xmlns:a="http://schemas.openxmlformats.org/drawingml/2006/main" prst="line">
            <a:avLst/>
          </a:prstGeom>
          <a:noFill xmlns:a="http://schemas.openxmlformats.org/drawingml/2006/main"/>
          <a:ln xmlns:a="http://schemas.openxmlformats.org/drawingml/2006/main" w="10160">
            <a:solidFill>
              <a:srgbClr val="D55E00"/>
            </a:solidFill>
          </a:ln>
        </p:spPr>
      </p:sp>
      <p:sp>
        <p:nvSpPr>
          <p:cNvPr id="140" name="sues_to_university/university1652_street_to_satellite/full/MRR/sd-cap-right">
            <a:extLst xmlns:a="http://schemas.openxmlformats.org/drawingml/2006/main">
              <a:ext uri="{FF2B5EF4-FFF2-40B4-BE49-F238E27FC236}">
                <a16:creationId xmlns:a16="http://schemas.microsoft.com/office/drawing/2014/main" id="{B981E609-57A9-4FC7-84B9-09BAECEF4473}"/>
              </a:ext>
            </a:extLst>
          </p:cNvPr>
          <p:cNvSpPr>
            <a:spLocks xmlns:a="http://schemas.openxmlformats.org/drawingml/2006/main" noGrp="1"/>
          </p:cNvSpPr>
          <p:nvPr/>
        </p:nvSpPr>
        <p:spPr>
          <a:xfrm xmlns:a="http://schemas.openxmlformats.org/drawingml/2006/main" flipV="0">
            <a:off x="4850137" y="2868930"/>
            <a:ext cx="0" cy="53340"/>
          </a:xfrm>
          <a:prstGeom xmlns:a="http://schemas.openxmlformats.org/drawingml/2006/main" prst="line">
            <a:avLst/>
          </a:prstGeom>
          <a:noFill xmlns:a="http://schemas.openxmlformats.org/drawingml/2006/main"/>
          <a:ln xmlns:a="http://schemas.openxmlformats.org/drawingml/2006/main" w="10160">
            <a:solidFill>
              <a:srgbClr val="D55E00"/>
            </a:solidFill>
          </a:ln>
        </p:spPr>
      </p:sp>
      <p:sp>
        <p:nvSpPr>
          <p:cNvPr id="141" name="sues_to_university/university1652_street_to_satellite/full/MRR/mean">
            <a:extLst xmlns:a="http://schemas.openxmlformats.org/drawingml/2006/main">
              <a:ext uri="{FF2B5EF4-FFF2-40B4-BE49-F238E27FC236}">
                <a16:creationId xmlns:a16="http://schemas.microsoft.com/office/drawing/2014/main" id="{64A0FE2A-0526-4039-BEC3-BF9C2882C419}"/>
              </a:ext>
            </a:extLst>
          </p:cNvPr>
          <p:cNvSpPr>
            <a:spLocks xmlns:a="http://schemas.openxmlformats.org/drawingml/2006/main" noGrp="1"/>
          </p:cNvSpPr>
          <p:nvPr/>
        </p:nvSpPr>
        <p:spPr>
          <a:xfrm xmlns:a="http://schemas.openxmlformats.org/drawingml/2006/main">
            <a:off x="4823933" y="2872740"/>
            <a:ext cx="45720" cy="45720"/>
          </a:xfrm>
          <a:prstGeom xmlns:a="http://schemas.openxmlformats.org/drawingml/2006/main" prst="rect">
            <a:avLst/>
          </a:prstGeom>
          <a:solidFill xmlns:a="http://schemas.openxmlformats.org/drawingml/2006/main">
            <a:srgbClr val="D55E00"/>
          </a:solidFill>
          <a:ln xmlns:a="http://schemas.openxmlformats.org/drawingml/2006/main" w="0">
            <a:noFill/>
          </a:ln>
        </p:spPr>
      </p:sp>
      <p:sp>
        <p:nvSpPr>
          <p:cNvPr id="142" name="sues_to_university/university1652_street_to_satellite/full/MRR/value">
            <a:extLst xmlns:a="http://schemas.openxmlformats.org/drawingml/2006/main">
              <a:ext uri="{FF2B5EF4-FFF2-40B4-BE49-F238E27FC236}">
                <a16:creationId xmlns:a16="http://schemas.microsoft.com/office/drawing/2014/main" id="{59994AD9-82B1-4638-9BA7-36990A282042}"/>
              </a:ext>
            </a:extLst>
          </p:cNvPr>
          <p:cNvSpPr>
            <a:spLocks xmlns:a="http://schemas.openxmlformats.org/drawingml/2006/main" noGrp="1"/>
          </p:cNvSpPr>
          <p:nvPr/>
        </p:nvSpPr>
        <p:spPr>
          <a:xfrm xmlns:a="http://schemas.openxmlformats.org/drawingml/2006/main">
            <a:off x="5222399" y="2941828"/>
            <a:ext cx="629602"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D55E00"/>
                </a:solidFill>
                <a:latin typeface="Arial"/>
                <a:ea typeface="Arial"/>
                <a:cs typeface="Arial"/>
              </a:defRPr>
            </a:pPr>
            <a:r>
              <a:rPr sz="800" b="0">
                <a:solidFill>
                  <a:srgbClr val="D55E00"/>
                </a:solidFill>
                <a:latin typeface="Arial"/>
                <a:ea typeface="Arial"/>
                <a:cs typeface="Arial"/>
              </a:rPr>
              <a:t>1.254 ± 0.091</a:t>
            </a:r>
          </a:p>
        </p:txBody>
      </p:sp>
      <p:sp>
        <p:nvSpPr>
          <p:cNvPr id="143" name="sues_to_university/university1652_drone_to_satellite/label/0">
            <a:extLst xmlns:a="http://schemas.openxmlformats.org/drawingml/2006/main">
              <a:ext uri="{FF2B5EF4-FFF2-40B4-BE49-F238E27FC236}">
                <a16:creationId xmlns:a16="http://schemas.microsoft.com/office/drawing/2014/main" id="{C9B0199C-D85D-4CCA-8AF1-EA2B9C46B91B}"/>
              </a:ext>
            </a:extLst>
          </p:cNvPr>
          <p:cNvSpPr>
            <a:spLocks xmlns:a="http://schemas.openxmlformats.org/drawingml/2006/main" noGrp="1"/>
          </p:cNvSpPr>
          <p:nvPr/>
        </p:nvSpPr>
        <p:spPr>
          <a:xfrm xmlns:a="http://schemas.openxmlformats.org/drawingml/2006/main">
            <a:off x="190500" y="1494028"/>
            <a:ext cx="788003"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800" b="0">
                <a:solidFill>
                  <a:srgbClr val="222222"/>
                </a:solidFill>
                <a:latin typeface="Arial"/>
                <a:ea typeface="Arial"/>
                <a:cs typeface="Arial"/>
              </a:defRPr>
            </a:pPr>
            <a:r>
              <a:rPr sz="800" b="0">
                <a:solidFill>
                  <a:srgbClr val="222222"/>
                </a:solidFill>
                <a:latin typeface="Arial"/>
                <a:ea typeface="Arial"/>
                <a:cs typeface="Arial"/>
              </a:rPr>
              <a:t>Drone → satellite</a:t>
            </a:r>
          </a:p>
        </p:txBody>
      </p:sp>
      <p:sp>
        <p:nvSpPr>
          <p:cNvPr id="144" name="sues_to_university/university1652_drone_to_satellite/separator">
            <a:extLst xmlns:a="http://schemas.openxmlformats.org/drawingml/2006/main">
              <a:ext uri="{FF2B5EF4-FFF2-40B4-BE49-F238E27FC236}">
                <a16:creationId xmlns:a16="http://schemas.microsoft.com/office/drawing/2014/main" id="{04DEA2D5-75D7-4C6E-97CB-F9339BBB59F1}"/>
              </a:ext>
            </a:extLst>
          </p:cNvPr>
          <p:cNvSpPr>
            <a:spLocks xmlns:a="http://schemas.openxmlformats.org/drawingml/2006/main" noGrp="1"/>
          </p:cNvSpPr>
          <p:nvPr/>
        </p:nvSpPr>
        <p:spPr>
          <a:xfrm xmlns:a="http://schemas.openxmlformats.org/drawingml/2006/main" flipV="0">
            <a:off x="190500" y="1955800"/>
            <a:ext cx="6167400" cy="0"/>
          </a:xfrm>
          <a:prstGeom xmlns:a="http://schemas.openxmlformats.org/drawingml/2006/main" prst="line">
            <a:avLst/>
          </a:prstGeom>
          <a:noFill xmlns:a="http://schemas.openxmlformats.org/drawingml/2006/main"/>
          <a:ln xmlns:a="http://schemas.openxmlformats.org/drawingml/2006/main" w="6350">
            <a:solidFill>
              <a:srgbClr val="CAD2DA"/>
            </a:solidFill>
          </a:ln>
        </p:spPr>
      </p:sp>
      <p:sp>
        <p:nvSpPr>
          <p:cNvPr id="145" name="sues_to_university/university1652_satellite_to_drone/label/0">
            <a:extLst xmlns:a="http://schemas.openxmlformats.org/drawingml/2006/main">
              <a:ext uri="{FF2B5EF4-FFF2-40B4-BE49-F238E27FC236}">
                <a16:creationId xmlns:a16="http://schemas.microsoft.com/office/drawing/2014/main" id="{B5F1C76D-B5E7-4732-943A-D9FDC990F498}"/>
              </a:ext>
            </a:extLst>
          </p:cNvPr>
          <p:cNvSpPr>
            <a:spLocks xmlns:a="http://schemas.openxmlformats.org/drawingml/2006/main" noGrp="1"/>
          </p:cNvSpPr>
          <p:nvPr/>
        </p:nvSpPr>
        <p:spPr>
          <a:xfrm xmlns:a="http://schemas.openxmlformats.org/drawingml/2006/main">
            <a:off x="190500" y="2078228"/>
            <a:ext cx="78809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800" b="0">
                <a:solidFill>
                  <a:srgbClr val="222222"/>
                </a:solidFill>
                <a:latin typeface="Arial"/>
                <a:ea typeface="Arial"/>
                <a:cs typeface="Arial"/>
              </a:defRPr>
            </a:pPr>
            <a:r>
              <a:rPr sz="800" b="0">
                <a:solidFill>
                  <a:srgbClr val="222222"/>
                </a:solidFill>
                <a:latin typeface="Arial"/>
                <a:ea typeface="Arial"/>
                <a:cs typeface="Arial"/>
              </a:rPr>
              <a:t>Satellite → drone</a:t>
            </a:r>
          </a:p>
        </p:txBody>
      </p:sp>
      <p:sp>
        <p:nvSpPr>
          <p:cNvPr id="146" name="sues_to_university/university1652_satellite_to_drone/separator">
            <a:extLst xmlns:a="http://schemas.openxmlformats.org/drawingml/2006/main">
              <a:ext uri="{FF2B5EF4-FFF2-40B4-BE49-F238E27FC236}">
                <a16:creationId xmlns:a16="http://schemas.microsoft.com/office/drawing/2014/main" id="{4EECBA0B-A57A-47CC-BA01-B91A411C5726}"/>
              </a:ext>
            </a:extLst>
          </p:cNvPr>
          <p:cNvSpPr>
            <a:spLocks xmlns:a="http://schemas.openxmlformats.org/drawingml/2006/main" noGrp="1"/>
          </p:cNvSpPr>
          <p:nvPr/>
        </p:nvSpPr>
        <p:spPr>
          <a:xfrm xmlns:a="http://schemas.openxmlformats.org/drawingml/2006/main" flipV="0">
            <a:off x="190500" y="2540000"/>
            <a:ext cx="6167400" cy="0"/>
          </a:xfrm>
          <a:prstGeom xmlns:a="http://schemas.openxmlformats.org/drawingml/2006/main" prst="line">
            <a:avLst/>
          </a:prstGeom>
          <a:noFill xmlns:a="http://schemas.openxmlformats.org/drawingml/2006/main"/>
          <a:ln xmlns:a="http://schemas.openxmlformats.org/drawingml/2006/main" w="6350">
            <a:solidFill>
              <a:srgbClr val="CAD2DA"/>
            </a:solidFill>
          </a:ln>
        </p:spPr>
      </p:sp>
      <p:sp>
        <p:nvSpPr>
          <p:cNvPr id="147" name="sues_to_university/university1652_street_to_satellite/label/0">
            <a:extLst xmlns:a="http://schemas.openxmlformats.org/drawingml/2006/main">
              <a:ext uri="{FF2B5EF4-FFF2-40B4-BE49-F238E27FC236}">
                <a16:creationId xmlns:a16="http://schemas.microsoft.com/office/drawing/2014/main" id="{2DE78B18-545A-42CA-9377-A3AAA3884E65}"/>
              </a:ext>
            </a:extLst>
          </p:cNvPr>
          <p:cNvSpPr>
            <a:spLocks xmlns:a="http://schemas.openxmlformats.org/drawingml/2006/main" noGrp="1"/>
          </p:cNvSpPr>
          <p:nvPr/>
        </p:nvSpPr>
        <p:spPr>
          <a:xfrm xmlns:a="http://schemas.openxmlformats.org/drawingml/2006/main">
            <a:off x="190500" y="2662428"/>
            <a:ext cx="782383"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800" b="0">
                <a:solidFill>
                  <a:srgbClr val="222222"/>
                </a:solidFill>
                <a:latin typeface="Arial"/>
                <a:ea typeface="Arial"/>
                <a:cs typeface="Arial"/>
              </a:defRPr>
            </a:pPr>
            <a:r>
              <a:rPr sz="800" b="0">
                <a:solidFill>
                  <a:srgbClr val="222222"/>
                </a:solidFill>
                <a:latin typeface="Arial"/>
                <a:ea typeface="Arial"/>
                <a:cs typeface="Arial"/>
              </a:rPr>
              <a:t>Street → satellite</a:t>
            </a:r>
          </a:p>
        </p:txBody>
      </p:sp>
      <p:sp>
        <p:nvSpPr>
          <p:cNvPr id="148" name="sues_to_university/footnote/sd">
            <a:extLst xmlns:a="http://schemas.openxmlformats.org/drawingml/2006/main">
              <a:ext uri="{FF2B5EF4-FFF2-40B4-BE49-F238E27FC236}">
                <a16:creationId xmlns:a16="http://schemas.microsoft.com/office/drawing/2014/main" id="{47B97F9D-144E-4973-9981-54A2758FED74}"/>
              </a:ext>
            </a:extLst>
          </p:cNvPr>
          <p:cNvSpPr>
            <a:spLocks xmlns:a="http://schemas.openxmlformats.org/drawingml/2006/main" noGrp="1"/>
          </p:cNvSpPr>
          <p:nvPr/>
        </p:nvSpPr>
        <p:spPr>
          <a:xfrm xmlns:a="http://schemas.openxmlformats.org/drawingml/2006/main">
            <a:off x="190500" y="3310128"/>
            <a:ext cx="348481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800" b="0">
                <a:solidFill>
                  <a:srgbClr val="222222"/>
                </a:solidFill>
                <a:latin typeface="Arial"/>
                <a:ea typeface="Arial"/>
                <a:cs typeface="Arial"/>
              </a:defRPr>
            </a:pPr>
            <a:r>
              <a:rPr sz="800" b="0">
                <a:solidFill>
                  <a:srgbClr val="222222"/>
                </a:solidFill>
                <a:latin typeface="Arial"/>
                <a:ea typeface="Arial"/>
                <a:cs typeface="Arial"/>
              </a:rPr>
              <a:t>Bars are sample SD (n − 1 = 2), not confidence intervals or significance tests.</a:t>
            </a:r>
          </a:p>
        </p:txBody>
      </p:sp>
      <p:sp>
        <p:nvSpPr>
          <p:cNvPr id="149" name="sues_to_university/footnote/tasks">
            <a:extLst xmlns:a="http://schemas.openxmlformats.org/drawingml/2006/main">
              <a:ext uri="{FF2B5EF4-FFF2-40B4-BE49-F238E27FC236}">
                <a16:creationId xmlns:a16="http://schemas.microsoft.com/office/drawing/2014/main" id="{5B6C715E-33A2-4C7D-BCB8-0DD069EA7155}"/>
              </a:ext>
            </a:extLst>
          </p:cNvPr>
          <p:cNvSpPr>
            <a:spLocks xmlns:a="http://schemas.openxmlformats.org/drawingml/2006/main" noGrp="1"/>
          </p:cNvSpPr>
          <p:nvPr/>
        </p:nvSpPr>
        <p:spPr>
          <a:xfrm xmlns:a="http://schemas.openxmlformats.org/drawingml/2006/main">
            <a:off x="190500" y="3475228"/>
            <a:ext cx="3625977"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800" b="0">
                <a:solidFill>
                  <a:srgbClr val="222222"/>
                </a:solidFill>
                <a:latin typeface="Arial"/>
                <a:ea typeface="Arial"/>
                <a:cs typeface="Arial"/>
              </a:defRPr>
            </a:pPr>
            <a:r>
              <a:rPr sz="800" b="0">
                <a:solidFill>
                  <a:srgbClr val="222222"/>
                </a:solidFill>
                <a:latin typeface="Arial"/>
                <a:ea typeface="Arial"/>
                <a:cs typeface="Arial"/>
              </a:rPr>
              <a:t>Each retrieval task is separate; no pooling across heights, directions or datasets.</a:t>
            </a:r>
          </a:p>
        </p:txBody>
      </p:sp>
      <p:sp>
        <p:nvSpPr>
          <p:cNvPr id="150" name="sues_to_university/footnote/units">
            <a:extLst xmlns:a="http://schemas.openxmlformats.org/drawingml/2006/main">
              <a:ext uri="{FF2B5EF4-FFF2-40B4-BE49-F238E27FC236}">
                <a16:creationId xmlns:a16="http://schemas.microsoft.com/office/drawing/2014/main" id="{CCCAB201-CC1E-4B58-85C1-073A9752D956}"/>
              </a:ext>
            </a:extLst>
          </p:cNvPr>
          <p:cNvSpPr>
            <a:spLocks xmlns:a="http://schemas.openxmlformats.org/drawingml/2006/main" noGrp="1"/>
          </p:cNvSpPr>
          <p:nvPr/>
        </p:nvSpPr>
        <p:spPr>
          <a:xfrm xmlns:a="http://schemas.openxmlformats.org/drawingml/2006/main">
            <a:off x="190500" y="3640328"/>
            <a:ext cx="4040219"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800" b="0">
                <a:solidFill>
                  <a:srgbClr val="222222"/>
                </a:solidFill>
                <a:latin typeface="Arial"/>
                <a:ea typeface="Arial"/>
                <a:cs typeface="Arial"/>
              </a:defRPr>
            </a:pPr>
            <a:r>
              <a:rPr sz="800" b="0">
                <a:solidFill>
                  <a:srgbClr val="222222"/>
                </a:solidFill>
                <a:latin typeface="Arial"/>
                <a:ea typeface="Arial"/>
                <a:cs typeface="Arial"/>
              </a:rPr>
              <a:t>R@1 and mAP are percentages; MRR × 100 is scaled MRR, not an accuracy percentage.</a:t>
            </a:r>
          </a:p>
        </p:txBody>
      </p:sp>
      <p:sp>
        <p:nvSpPr>
          <p:cNvPr id="151" name="sues_to_university/footnote/numerics">
            <a:extLst xmlns:a="http://schemas.openxmlformats.org/drawingml/2006/main">
              <a:ext uri="{FF2B5EF4-FFF2-40B4-BE49-F238E27FC236}">
                <a16:creationId xmlns:a16="http://schemas.microsoft.com/office/drawing/2014/main" id="{442572EE-213E-4861-B8DE-0DB084A96443}"/>
              </a:ext>
            </a:extLst>
          </p:cNvPr>
          <p:cNvSpPr>
            <a:spLocks xmlns:a="http://schemas.openxmlformats.org/drawingml/2006/main" noGrp="1"/>
          </p:cNvSpPr>
          <p:nvPr/>
        </p:nvSpPr>
        <p:spPr>
          <a:xfrm xmlns:a="http://schemas.openxmlformats.org/drawingml/2006/main">
            <a:off x="190500" y="3805428"/>
            <a:ext cx="418385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800" b="0">
                <a:solidFill>
                  <a:srgbClr val="222222"/>
                </a:solidFill>
                <a:latin typeface="Arial"/>
                <a:ea typeface="Arial"/>
                <a:cs typeface="Arial"/>
              </a:defRPr>
            </a:pPr>
            <a:r>
              <a:rPr sz="800" b="0">
                <a:solidFill>
                  <a:srgbClr val="222222"/>
                </a:solidFill>
                <a:latin typeface="Arial"/>
                <a:ea typeface="Arial"/>
                <a:cs typeface="Arial"/>
              </a:rPr>
              <a:t>Labels show mean ± sample SD; exact fractions and all seed values are in the source tables.</a:t>
            </a:r>
          </a:p>
        </p:txBody>
      </p:sp>
    </p:spTree>
    <p:extLst>
      <p:ext uri="{BB962C8B-B14F-4D97-AF65-F5344CB8AC3E}">
        <p14:creationId xmlns:p14="http://schemas.microsoft.com/office/powerpoint/2010/main" val="587200751"/>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2026-09-29T16:54:19.0160000Z</dcterms:created>
  <dcterms:modified xsi:type="dcterms:W3CDTF">2026-09-29T16:54:19.0160000Z</dcterms:modified>
</coreProperties>
</file>